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 Italics" charset="1" panose="000008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Poppins Italic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jpe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13.png" Type="http://schemas.openxmlformats.org/officeDocument/2006/relationships/image"/><Relationship Id="rId8" Target="../media/image11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14.png" Type="http://schemas.openxmlformats.org/officeDocument/2006/relationships/image"/><Relationship Id="rId8" Target="../media/image11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13.png" Type="http://schemas.openxmlformats.org/officeDocument/2006/relationships/image"/><Relationship Id="rId8" Target="../media/image11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https://canva.link/op815z0vqmlav89" TargetMode="External" Type="http://schemas.openxmlformats.org/officeDocument/2006/relationships/hyperlink"/><Relationship Id="rId13" Target="../media/image11.png" Type="http://schemas.openxmlformats.org/officeDocument/2006/relationships/image"/><Relationship Id="rId14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https://github.com/Harini7878/SEMICON-India-2026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Relationship Id="rId6" Target="../media/image5.jpe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9412" y="-221513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714500"/>
            <a:ext cx="71323" cy="414223"/>
            <a:chOff x="0" y="0"/>
            <a:chExt cx="95098" cy="552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23" cy="552323"/>
            </a:xfrm>
            <a:custGeom>
              <a:avLst/>
              <a:gdLst/>
              <a:ahLst/>
              <a:cxnLst/>
              <a:rect r="r" b="b" t="t" l="l"/>
              <a:pathLst>
                <a:path h="552323" w="95123">
                  <a:moveTo>
                    <a:pt x="0" y="0"/>
                  </a:moveTo>
                  <a:lnTo>
                    <a:pt x="95123" y="0"/>
                  </a:lnTo>
                  <a:lnTo>
                    <a:pt x="95123" y="552323"/>
                  </a:lnTo>
                  <a:lnTo>
                    <a:pt x="0" y="552323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64082" y="1746123"/>
            <a:ext cx="3677107" cy="562204"/>
            <a:chOff x="0" y="0"/>
            <a:chExt cx="4902810" cy="7496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02835" cy="749554"/>
            </a:xfrm>
            <a:custGeom>
              <a:avLst/>
              <a:gdLst/>
              <a:ahLst/>
              <a:cxnLst/>
              <a:rect r="r" b="b" t="t" l="l"/>
              <a:pathLst>
                <a:path h="749554" w="4902835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4703572" y="0"/>
                  </a:lnTo>
                  <a:cubicBezTo>
                    <a:pt x="4813681" y="0"/>
                    <a:pt x="4902835" y="89154"/>
                    <a:pt x="4902835" y="199263"/>
                  </a:cubicBezTo>
                  <a:lnTo>
                    <a:pt x="4902835" y="550291"/>
                  </a:lnTo>
                  <a:cubicBezTo>
                    <a:pt x="4902835" y="660400"/>
                    <a:pt x="4813681" y="749554"/>
                    <a:pt x="4703572" y="749554"/>
                  </a:cubicBezTo>
                  <a:lnTo>
                    <a:pt x="199263" y="749554"/>
                  </a:lnTo>
                  <a:cubicBezTo>
                    <a:pt x="89154" y="749554"/>
                    <a:pt x="0" y="660400"/>
                    <a:pt x="0" y="55029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47725" y="2559482"/>
            <a:ext cx="16592093" cy="2712949"/>
            <a:chOff x="0" y="0"/>
            <a:chExt cx="22122790" cy="36172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2764" cy="3617265"/>
            </a:xfrm>
            <a:custGeom>
              <a:avLst/>
              <a:gdLst/>
              <a:ahLst/>
              <a:cxnLst/>
              <a:rect r="r" b="b" t="t" l="l"/>
              <a:pathLst>
                <a:path h="3617265" w="22122764">
                  <a:moveTo>
                    <a:pt x="0" y="80127"/>
                  </a:moveTo>
                  <a:cubicBezTo>
                    <a:pt x="0" y="35857"/>
                    <a:pt x="43307" y="0"/>
                    <a:pt x="96774" y="0"/>
                  </a:cubicBezTo>
                  <a:lnTo>
                    <a:pt x="22025990" y="0"/>
                  </a:lnTo>
                  <a:cubicBezTo>
                    <a:pt x="22079457" y="0"/>
                    <a:pt x="22122764" y="35857"/>
                    <a:pt x="22122764" y="80127"/>
                  </a:cubicBezTo>
                  <a:lnTo>
                    <a:pt x="22122764" y="3537138"/>
                  </a:lnTo>
                  <a:cubicBezTo>
                    <a:pt x="22122764" y="3581408"/>
                    <a:pt x="22079457" y="3617265"/>
                    <a:pt x="22025990" y="3617265"/>
                  </a:cubicBezTo>
                  <a:lnTo>
                    <a:pt x="96774" y="3617265"/>
                  </a:lnTo>
                  <a:cubicBezTo>
                    <a:pt x="43307" y="3617265"/>
                    <a:pt x="0" y="3581408"/>
                    <a:pt x="0" y="3537138"/>
                  </a:cubicBezTo>
                  <a:close/>
                </a:path>
              </a:pathLst>
            </a:custGeom>
            <a:solidFill>
              <a:srgbClr val="273383">
                <a:alpha val="8627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70966" y="2582723"/>
            <a:ext cx="1656893" cy="656996"/>
            <a:chOff x="0" y="0"/>
            <a:chExt cx="2209190" cy="8759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165" cy="876046"/>
            </a:xfrm>
            <a:custGeom>
              <a:avLst/>
              <a:gdLst/>
              <a:ahLst/>
              <a:cxnLst/>
              <a:rect r="r" b="b" t="t" l="l"/>
              <a:pathLst>
                <a:path h="876046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26487" y="2582723"/>
            <a:ext cx="3315157" cy="656996"/>
            <a:chOff x="0" y="0"/>
            <a:chExt cx="4420210" cy="875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20235" cy="876046"/>
            </a:xfrm>
            <a:custGeom>
              <a:avLst/>
              <a:gdLst/>
              <a:ahLst/>
              <a:cxnLst/>
              <a:rect r="r" b="b" t="t" l="l"/>
              <a:pathLst>
                <a:path h="876046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34786" y="2582723"/>
            <a:ext cx="6628943" cy="656996"/>
            <a:chOff x="0" y="0"/>
            <a:chExt cx="8838590" cy="875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38565" cy="876046"/>
            </a:xfrm>
            <a:custGeom>
              <a:avLst/>
              <a:gdLst/>
              <a:ahLst/>
              <a:cxnLst/>
              <a:rect r="r" b="b" t="t" l="l"/>
              <a:pathLst>
                <a:path h="876046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2756" y="2582723"/>
            <a:ext cx="4972050" cy="656996"/>
            <a:chOff x="0" y="0"/>
            <a:chExt cx="6629400" cy="8759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9400" cy="876046"/>
            </a:xfrm>
            <a:custGeom>
              <a:avLst/>
              <a:gdLst/>
              <a:ahLst/>
              <a:cxnLst/>
              <a:rect r="r" b="b" t="t" l="l"/>
              <a:pathLst>
                <a:path h="876046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0966" y="3906317"/>
            <a:ext cx="1656893" cy="13716"/>
            <a:chOff x="0" y="0"/>
            <a:chExt cx="2209190" cy="1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26487" y="3906317"/>
            <a:ext cx="3315157" cy="13716"/>
            <a:chOff x="0" y="0"/>
            <a:chExt cx="4420210" cy="18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34786" y="3906317"/>
            <a:ext cx="6628943" cy="13716"/>
            <a:chOff x="0" y="0"/>
            <a:chExt cx="8838590" cy="18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52756" y="3906317"/>
            <a:ext cx="4972050" cy="13716"/>
            <a:chOff x="0" y="0"/>
            <a:chExt cx="6629400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0966" y="3910432"/>
            <a:ext cx="16545611" cy="685800"/>
            <a:chOff x="0" y="0"/>
            <a:chExt cx="22060814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60788" cy="914400"/>
            </a:xfrm>
            <a:custGeom>
              <a:avLst/>
              <a:gdLst/>
              <a:ahLst/>
              <a:cxnLst/>
              <a:rect r="r" b="b" t="t" l="l"/>
              <a:pathLst>
                <a:path h="914400" w="22060788">
                  <a:moveTo>
                    <a:pt x="0" y="0"/>
                  </a:moveTo>
                  <a:lnTo>
                    <a:pt x="22060788" y="0"/>
                  </a:lnTo>
                  <a:lnTo>
                    <a:pt x="2206078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0966" y="4582516"/>
            <a:ext cx="1656893" cy="13716"/>
            <a:chOff x="0" y="0"/>
            <a:chExt cx="2209190" cy="18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526487" y="4582516"/>
            <a:ext cx="3315157" cy="13716"/>
            <a:chOff x="0" y="0"/>
            <a:chExt cx="4420210" cy="18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834786" y="4582516"/>
            <a:ext cx="6628943" cy="13716"/>
            <a:chOff x="0" y="0"/>
            <a:chExt cx="8838590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52756" y="4582516"/>
            <a:ext cx="4972050" cy="13716"/>
            <a:chOff x="0" y="0"/>
            <a:chExt cx="6629400" cy="18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0966" y="5265572"/>
            <a:ext cx="1656893" cy="13716"/>
            <a:chOff x="0" y="0"/>
            <a:chExt cx="2209190" cy="18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26487" y="5265572"/>
            <a:ext cx="3315157" cy="13716"/>
            <a:chOff x="0" y="0"/>
            <a:chExt cx="4420210" cy="18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834786" y="5265572"/>
            <a:ext cx="6628943" cy="13716"/>
            <a:chOff x="0" y="0"/>
            <a:chExt cx="8838590" cy="18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452756" y="5265572"/>
            <a:ext cx="4972050" cy="13716"/>
            <a:chOff x="0" y="0"/>
            <a:chExt cx="6629400" cy="18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57250" y="6227064"/>
            <a:ext cx="200254" cy="200254"/>
            <a:chOff x="0" y="0"/>
            <a:chExt cx="267005" cy="267005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266954" cy="266954"/>
            </a:xfrm>
            <a:custGeom>
              <a:avLst/>
              <a:gdLst/>
              <a:ahLst/>
              <a:cxnLst/>
              <a:rect r="r" b="b" t="t" l="l"/>
              <a:pathLst>
                <a:path h="266954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66954"/>
                  </a:lnTo>
                  <a:lnTo>
                    <a:pt x="0" y="266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9" b="-1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71346" y="6180430"/>
            <a:ext cx="8361274" cy="300380"/>
            <a:chOff x="0" y="0"/>
            <a:chExt cx="11148365" cy="40050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48364" cy="400508"/>
            </a:xfrm>
            <a:custGeom>
              <a:avLst/>
              <a:gdLst/>
              <a:ahLst/>
              <a:cxnLst/>
              <a:rect r="r" b="b" t="t" l="l"/>
              <a:pathLst>
                <a:path h="400508" w="11148364">
                  <a:moveTo>
                    <a:pt x="0" y="0"/>
                  </a:moveTo>
                  <a:lnTo>
                    <a:pt x="11148364" y="0"/>
                  </a:lnTo>
                  <a:lnTo>
                    <a:pt x="1114836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2377" r="0" b="-4923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1148365" cy="419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i="true">
                  <a:solidFill>
                    <a:srgbClr val="AAAAAA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A team can have up to 4 members including the team leader. Add rows if necessary.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47725" y="6805955"/>
            <a:ext cx="16592093" cy="3062630"/>
            <a:chOff x="0" y="0"/>
            <a:chExt cx="22122790" cy="408350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22766" cy="4083431"/>
            </a:xfrm>
            <a:custGeom>
              <a:avLst/>
              <a:gdLst/>
              <a:ahLst/>
              <a:cxnLst/>
              <a:rect r="r" b="b" t="t" l="l"/>
              <a:pathLst>
                <a:path h="4083431" w="22122766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22019133" y="0"/>
                  </a:lnTo>
                  <a:cubicBezTo>
                    <a:pt x="22076411" y="0"/>
                    <a:pt x="22122766" y="46482"/>
                    <a:pt x="22122766" y="103632"/>
                  </a:cubicBezTo>
                  <a:lnTo>
                    <a:pt x="22122766" y="3979799"/>
                  </a:lnTo>
                  <a:cubicBezTo>
                    <a:pt x="22122766" y="4037076"/>
                    <a:pt x="22076283" y="4083431"/>
                    <a:pt x="22019133" y="4083431"/>
                  </a:cubicBezTo>
                  <a:lnTo>
                    <a:pt x="103632" y="4083431"/>
                  </a:lnTo>
                  <a:cubicBezTo>
                    <a:pt x="46355" y="4083431"/>
                    <a:pt x="0" y="4036949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48105" y="7563079"/>
            <a:ext cx="15992704" cy="676046"/>
            <a:chOff x="0" y="0"/>
            <a:chExt cx="21323605" cy="90139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323680" cy="901446"/>
            </a:xfrm>
            <a:custGeom>
              <a:avLst/>
              <a:gdLst/>
              <a:ahLst/>
              <a:cxnLst/>
              <a:rect r="r" b="b" t="t" l="l"/>
              <a:pathLst>
                <a:path h="901446" w="21323680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21078189" y="0"/>
                  </a:lnTo>
                  <a:cubicBezTo>
                    <a:pt x="21213699" y="0"/>
                    <a:pt x="21323680" y="109855"/>
                    <a:pt x="21323680" y="245491"/>
                  </a:cubicBezTo>
                  <a:lnTo>
                    <a:pt x="21323680" y="655955"/>
                  </a:lnTo>
                  <a:cubicBezTo>
                    <a:pt x="21323680" y="791464"/>
                    <a:pt x="21213826" y="901446"/>
                    <a:pt x="21078189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48105" y="8892159"/>
            <a:ext cx="7863230" cy="676046"/>
            <a:chOff x="0" y="0"/>
            <a:chExt cx="10484307" cy="9013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277579" y="8892159"/>
            <a:ext cx="7863230" cy="676046"/>
            <a:chOff x="0" y="0"/>
            <a:chExt cx="10484307" cy="90139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42543" y="1629461"/>
            <a:ext cx="3080614" cy="571957"/>
            <a:chOff x="0" y="0"/>
            <a:chExt cx="4107485" cy="762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07484" cy="762610"/>
            </a:xfrm>
            <a:custGeom>
              <a:avLst/>
              <a:gdLst/>
              <a:ahLst/>
              <a:cxnLst/>
              <a:rect r="r" b="b" t="t" l="l"/>
              <a:pathLst>
                <a:path h="762610" w="4107484">
                  <a:moveTo>
                    <a:pt x="0" y="0"/>
                  </a:moveTo>
                  <a:lnTo>
                    <a:pt x="4107484" y="0"/>
                  </a:lnTo>
                  <a:lnTo>
                    <a:pt x="4107484" y="762610"/>
                  </a:lnTo>
                  <a:lnTo>
                    <a:pt x="0" y="7626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948" r="0" b="-5494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107485" cy="78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Details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115343" y="1855775"/>
            <a:ext cx="1658264" cy="329184"/>
            <a:chOff x="0" y="0"/>
            <a:chExt cx="2211019" cy="4389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11020" cy="438912"/>
            </a:xfrm>
            <a:custGeom>
              <a:avLst/>
              <a:gdLst/>
              <a:ahLst/>
              <a:cxnLst/>
              <a:rect r="r" b="b" t="t" l="l"/>
              <a:pathLst>
                <a:path h="438912" w="2211020">
                  <a:moveTo>
                    <a:pt x="0" y="0"/>
                  </a:moveTo>
                  <a:lnTo>
                    <a:pt x="2211020" y="0"/>
                  </a:lnTo>
                  <a:lnTo>
                    <a:pt x="22110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155" r="0" b="-4815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211019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Name: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57630" y="2754173"/>
            <a:ext cx="898398" cy="286664"/>
            <a:chOff x="0" y="0"/>
            <a:chExt cx="1197864" cy="3822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97864" cy="382220"/>
            </a:xfrm>
            <a:custGeom>
              <a:avLst/>
              <a:gdLst/>
              <a:ahLst/>
              <a:cxnLst/>
              <a:rect r="r" b="b" t="t" l="l"/>
              <a:pathLst>
                <a:path h="382220" w="1197864">
                  <a:moveTo>
                    <a:pt x="0" y="0"/>
                  </a:moveTo>
                  <a:lnTo>
                    <a:pt x="1197864" y="0"/>
                  </a:lnTo>
                  <a:lnTo>
                    <a:pt x="1197864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065" r="0" b="-110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197864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SR. NO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811780" y="2754173"/>
            <a:ext cx="698144" cy="286664"/>
            <a:chOff x="0" y="0"/>
            <a:chExt cx="930859" cy="3822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30860" cy="382220"/>
            </a:xfrm>
            <a:custGeom>
              <a:avLst/>
              <a:gdLst/>
              <a:ahLst/>
              <a:cxnLst/>
              <a:rect r="r" b="b" t="t" l="l"/>
              <a:pathLst>
                <a:path h="382220" w="930860">
                  <a:moveTo>
                    <a:pt x="0" y="0"/>
                  </a:moveTo>
                  <a:lnTo>
                    <a:pt x="930860" y="0"/>
                  </a:lnTo>
                  <a:lnTo>
                    <a:pt x="930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82" t="0" r="-268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308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120079" y="2754173"/>
            <a:ext cx="798271" cy="286664"/>
            <a:chOff x="0" y="0"/>
            <a:chExt cx="1064362" cy="3822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4362" cy="382220"/>
            </a:xfrm>
            <a:custGeom>
              <a:avLst/>
              <a:gdLst/>
              <a:ahLst/>
              <a:cxnLst/>
              <a:rect r="r" b="b" t="t" l="l"/>
              <a:pathLst>
                <a:path h="382220" w="1064362">
                  <a:moveTo>
                    <a:pt x="0" y="0"/>
                  </a:moveTo>
                  <a:lnTo>
                    <a:pt x="1064362" y="0"/>
                  </a:lnTo>
                  <a:lnTo>
                    <a:pt x="1064362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59" r="0" b="-425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64362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NAME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738049" y="2754173"/>
            <a:ext cx="1969618" cy="286664"/>
            <a:chOff x="0" y="0"/>
            <a:chExt cx="2626157" cy="38221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626156" cy="382220"/>
            </a:xfrm>
            <a:custGeom>
              <a:avLst/>
              <a:gdLst/>
              <a:ahLst/>
              <a:cxnLst/>
              <a:rect r="r" b="b" t="t" l="l"/>
              <a:pathLst>
                <a:path h="382220" w="2626156">
                  <a:moveTo>
                    <a:pt x="0" y="0"/>
                  </a:moveTo>
                  <a:lnTo>
                    <a:pt x="2626156" y="0"/>
                  </a:lnTo>
                  <a:lnTo>
                    <a:pt x="2626156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877" r="0" b="-838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2626157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ACADEMIC YEAR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7630" y="3405683"/>
            <a:ext cx="234544" cy="300380"/>
            <a:chOff x="0" y="0"/>
            <a:chExt cx="312725" cy="40050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2724" cy="400508"/>
            </a:xfrm>
            <a:custGeom>
              <a:avLst/>
              <a:gdLst/>
              <a:ahLst/>
              <a:cxnLst/>
              <a:rect r="r" b="b" t="t" l="l"/>
              <a:pathLst>
                <a:path h="400508" w="312724">
                  <a:moveTo>
                    <a:pt x="0" y="0"/>
                  </a:moveTo>
                  <a:lnTo>
                    <a:pt x="312724" y="0"/>
                  </a:lnTo>
                  <a:lnTo>
                    <a:pt x="3127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4318" t="0" r="-11431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127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2811780" y="3405683"/>
            <a:ext cx="1606144" cy="300380"/>
            <a:chOff x="0" y="0"/>
            <a:chExt cx="2141525" cy="40050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141524" cy="400508"/>
            </a:xfrm>
            <a:custGeom>
              <a:avLst/>
              <a:gdLst/>
              <a:ahLst/>
              <a:cxnLst/>
              <a:rect r="r" b="b" t="t" l="l"/>
              <a:pathLst>
                <a:path h="400508" w="2141524">
                  <a:moveTo>
                    <a:pt x="0" y="0"/>
                  </a:moveTo>
                  <a:lnTo>
                    <a:pt x="2141524" y="0"/>
                  </a:lnTo>
                  <a:lnTo>
                    <a:pt x="21415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187" r="0" b="-5418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1415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7630" y="4088740"/>
            <a:ext cx="292151" cy="300380"/>
            <a:chOff x="0" y="0"/>
            <a:chExt cx="389534" cy="40050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811780" y="4088740"/>
            <a:ext cx="1207008" cy="300380"/>
            <a:chOff x="0" y="0"/>
            <a:chExt cx="1609344" cy="40050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09344" cy="400508"/>
            </a:xfrm>
            <a:custGeom>
              <a:avLst/>
              <a:gdLst/>
              <a:ahLst/>
              <a:cxnLst/>
              <a:rect r="r" b="b" t="t" l="l"/>
              <a:pathLst>
                <a:path h="400508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295" r="0" b="-2829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60934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57630" y="4771796"/>
            <a:ext cx="292151" cy="300380"/>
            <a:chOff x="0" y="0"/>
            <a:chExt cx="389534" cy="40050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811780" y="4771796"/>
            <a:ext cx="1263244" cy="300380"/>
            <a:chOff x="0" y="0"/>
            <a:chExt cx="1684325" cy="40050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684324" cy="400508"/>
            </a:xfrm>
            <a:custGeom>
              <a:avLst/>
              <a:gdLst/>
              <a:ahLst/>
              <a:cxnLst/>
              <a:rect r="r" b="b" t="t" l="l"/>
              <a:pathLst>
                <a:path h="400508" w="1684324">
                  <a:moveTo>
                    <a:pt x="0" y="0"/>
                  </a:moveTo>
                  <a:lnTo>
                    <a:pt x="1684324" y="0"/>
                  </a:lnTo>
                  <a:lnTo>
                    <a:pt x="16843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943" r="0" b="-3194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6843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2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7630" y="7158380"/>
            <a:ext cx="242773" cy="229057"/>
            <a:chOff x="0" y="0"/>
            <a:chExt cx="323698" cy="305410"/>
          </a:xfrm>
        </p:grpSpPr>
        <p:sp>
          <p:nvSpPr>
            <p:cNvPr name="Freeform 106" id="106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824" t="0" r="2832" b="8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14246" y="7115861"/>
            <a:ext cx="2014880" cy="329184"/>
            <a:chOff x="0" y="0"/>
            <a:chExt cx="2686507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6508" cy="438912"/>
            </a:xfrm>
            <a:custGeom>
              <a:avLst/>
              <a:gdLst/>
              <a:ahLst/>
              <a:cxnLst/>
              <a:rect r="r" b="b" t="t" l="l"/>
              <a:pathLst>
                <a:path h="438912" w="2686508">
                  <a:moveTo>
                    <a:pt x="0" y="0"/>
                  </a:moveTo>
                  <a:lnTo>
                    <a:pt x="2686508" y="0"/>
                  </a:lnTo>
                  <a:lnTo>
                    <a:pt x="268650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9264" r="0" b="-6926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2686507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COLLEGE NAME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57630" y="8487461"/>
            <a:ext cx="242773" cy="229057"/>
            <a:chOff x="0" y="0"/>
            <a:chExt cx="323698" cy="305410"/>
          </a:xfrm>
        </p:grpSpPr>
        <p:sp>
          <p:nvSpPr>
            <p:cNvPr name="Freeform 111" id="111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824" t="0" r="2832" b="8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514246" y="8443570"/>
            <a:ext cx="4158691" cy="329184"/>
            <a:chOff x="0" y="0"/>
            <a:chExt cx="5544922" cy="43891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544922" cy="438912"/>
            </a:xfrm>
            <a:custGeom>
              <a:avLst/>
              <a:gdLst/>
              <a:ahLst/>
              <a:cxnLst/>
              <a:rect r="r" b="b" t="t" l="l"/>
              <a:pathLst>
                <a:path h="438912" w="5544922">
                  <a:moveTo>
                    <a:pt x="0" y="0"/>
                  </a:moveTo>
                  <a:lnTo>
                    <a:pt x="5544922" y="0"/>
                  </a:lnTo>
                  <a:lnTo>
                    <a:pt x="554492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6160" r="0" b="-19616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554492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CONTACT NUMBER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287104" y="8487461"/>
            <a:ext cx="242773" cy="229057"/>
            <a:chOff x="0" y="0"/>
            <a:chExt cx="323698" cy="305410"/>
          </a:xfrm>
        </p:grpSpPr>
        <p:sp>
          <p:nvSpPr>
            <p:cNvPr name="Freeform 116" id="116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2824" t="0" r="2832" b="8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43720" y="8443570"/>
            <a:ext cx="3771900" cy="329184"/>
            <a:chOff x="0" y="0"/>
            <a:chExt cx="5029200" cy="43891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0292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50292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EMAIL ADDRESS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016380" y="1884578"/>
            <a:ext cx="2579980" cy="373761"/>
            <a:chOff x="0" y="0"/>
            <a:chExt cx="3439973" cy="4983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439972" cy="498349"/>
            </a:xfrm>
            <a:custGeom>
              <a:avLst/>
              <a:gdLst/>
              <a:ahLst/>
              <a:cxnLst/>
              <a:rect r="r" b="b" t="t" l="l"/>
              <a:pathLst>
                <a:path h="498349" w="3439972">
                  <a:moveTo>
                    <a:pt x="0" y="0"/>
                  </a:moveTo>
                  <a:lnTo>
                    <a:pt x="3439972" y="0"/>
                  </a:lnTo>
                  <a:lnTo>
                    <a:pt x="3439972" y="498349"/>
                  </a:lnTo>
                  <a:lnTo>
                    <a:pt x="0" y="4983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151" r="0" b="-7284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3439973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Signal Sense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6032048" y="3352209"/>
            <a:ext cx="2512308" cy="407327"/>
            <a:chOff x="0" y="0"/>
            <a:chExt cx="3349744" cy="54310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349744" cy="543104"/>
            </a:xfrm>
            <a:custGeom>
              <a:avLst/>
              <a:gdLst/>
              <a:ahLst/>
              <a:cxnLst/>
              <a:rect r="r" b="b" t="t" l="l"/>
              <a:pathLst>
                <a:path h="543104" w="3349744">
                  <a:moveTo>
                    <a:pt x="0" y="0"/>
                  </a:moveTo>
                  <a:lnTo>
                    <a:pt x="3349744" y="0"/>
                  </a:lnTo>
                  <a:lnTo>
                    <a:pt x="3349744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337" r="34922" b="-1508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3349744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Harini Muthurengan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738049" y="3405683"/>
            <a:ext cx="1463497" cy="407327"/>
            <a:chOff x="0" y="0"/>
            <a:chExt cx="1951330" cy="5431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120079" y="4088740"/>
            <a:ext cx="1634947" cy="407327"/>
            <a:chOff x="0" y="0"/>
            <a:chExt cx="2179930" cy="54310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79930" cy="543104"/>
            </a:xfrm>
            <a:custGeom>
              <a:avLst/>
              <a:gdLst/>
              <a:ahLst/>
              <a:cxnLst/>
              <a:rect r="r" b="b" t="t" l="l"/>
              <a:pathLst>
                <a:path h="543104" w="2179930">
                  <a:moveTo>
                    <a:pt x="0" y="0"/>
                  </a:moveTo>
                  <a:lnTo>
                    <a:pt x="2179930" y="0"/>
                  </a:lnTo>
                  <a:lnTo>
                    <a:pt x="21799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337" r="0" b="-1508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21799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Sofiya.S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738049" y="4088740"/>
            <a:ext cx="1463497" cy="407327"/>
            <a:chOff x="0" y="0"/>
            <a:chExt cx="1951330" cy="54310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738049" y="4771796"/>
            <a:ext cx="1463497" cy="407327"/>
            <a:chOff x="0" y="0"/>
            <a:chExt cx="1951330" cy="54310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6120079" y="4664850"/>
            <a:ext cx="2512308" cy="407327"/>
            <a:chOff x="0" y="0"/>
            <a:chExt cx="3349744" cy="54310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349744" cy="543104"/>
            </a:xfrm>
            <a:custGeom>
              <a:avLst/>
              <a:gdLst/>
              <a:ahLst/>
              <a:cxnLst/>
              <a:rect r="r" b="b" t="t" l="l"/>
              <a:pathLst>
                <a:path h="543104" w="3349744">
                  <a:moveTo>
                    <a:pt x="0" y="0"/>
                  </a:moveTo>
                  <a:lnTo>
                    <a:pt x="3349744" y="0"/>
                  </a:lnTo>
                  <a:lnTo>
                    <a:pt x="3349744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337" r="34922" b="-1508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9525"/>
              <a:ext cx="3349744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E0E0E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 Thasneem Fathima 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738049" y="5454853"/>
            <a:ext cx="1823383" cy="507492"/>
            <a:chOff x="0" y="0"/>
            <a:chExt cx="1951330" cy="54310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449781" y="7004900"/>
            <a:ext cx="6860582" cy="1767854"/>
            <a:chOff x="0" y="0"/>
            <a:chExt cx="5041306" cy="129905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41306" cy="1299058"/>
            </a:xfrm>
            <a:custGeom>
              <a:avLst/>
              <a:gdLst/>
              <a:ahLst/>
              <a:cxnLst/>
              <a:rect r="r" b="b" t="t" l="l"/>
              <a:pathLst>
                <a:path h="1299058" w="5041306">
                  <a:moveTo>
                    <a:pt x="0" y="0"/>
                  </a:moveTo>
                  <a:lnTo>
                    <a:pt x="5041306" y="0"/>
                  </a:lnTo>
                  <a:lnTo>
                    <a:pt x="5041306" y="1299058"/>
                  </a:lnTo>
                  <a:lnTo>
                    <a:pt x="0" y="12990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825" r="18378" b="21387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5041306" cy="1318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B. S. Abdur Rahman Crescent Institute Of Science And Technology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85316" y="9058046"/>
            <a:ext cx="2301545" cy="440893"/>
            <a:chOff x="0" y="0"/>
            <a:chExt cx="3068726" cy="58785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068726" cy="587858"/>
            </a:xfrm>
            <a:custGeom>
              <a:avLst/>
              <a:gdLst/>
              <a:ahLst/>
              <a:cxnLst/>
              <a:rect r="r" b="b" t="t" l="l"/>
              <a:pathLst>
                <a:path h="587858" w="3068726">
                  <a:moveTo>
                    <a:pt x="0" y="0"/>
                  </a:moveTo>
                  <a:lnTo>
                    <a:pt x="3068726" y="0"/>
                  </a:lnTo>
                  <a:lnTo>
                    <a:pt x="3068726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384" r="0" b="-39047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3068726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+91 9344472644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643720" y="8953729"/>
            <a:ext cx="4569779" cy="440893"/>
            <a:chOff x="0" y="0"/>
            <a:chExt cx="6093039" cy="58785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093039" cy="587858"/>
            </a:xfrm>
            <a:custGeom>
              <a:avLst/>
              <a:gdLst/>
              <a:ahLst/>
              <a:cxnLst/>
              <a:rect r="r" b="b" t="t" l="l"/>
              <a:pathLst>
                <a:path h="587858" w="6093039">
                  <a:moveTo>
                    <a:pt x="0" y="0"/>
                  </a:moveTo>
                  <a:lnTo>
                    <a:pt x="6093039" y="0"/>
                  </a:lnTo>
                  <a:lnTo>
                    <a:pt x="6093039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7721" r="38079" b="-6238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6093039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harinimuthurengan@gmail.com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43534" y="207112"/>
            <a:ext cx="16573043" cy="1286561"/>
            <a:chOff x="0" y="0"/>
            <a:chExt cx="22097390" cy="171541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2257435" y="410566"/>
            <a:ext cx="13745232" cy="879653"/>
            <a:chOff x="0" y="0"/>
            <a:chExt cx="18326976" cy="117287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7757" y="1943557"/>
            <a:ext cx="8321497" cy="700888"/>
            <a:chOff x="0" y="0"/>
            <a:chExt cx="11095330" cy="9345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5330" cy="934516"/>
            </a:xfrm>
            <a:custGeom>
              <a:avLst/>
              <a:gdLst/>
              <a:ahLst/>
              <a:cxnLst/>
              <a:rect r="r" b="b" t="t" l="l"/>
              <a:pathLst>
                <a:path h="934516" w="11095330">
                  <a:moveTo>
                    <a:pt x="0" y="0"/>
                  </a:moveTo>
                  <a:lnTo>
                    <a:pt x="11095330" y="0"/>
                  </a:lnTo>
                  <a:lnTo>
                    <a:pt x="11095330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1342" r="0" b="-18134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095330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 Addressed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23873" y="3599231"/>
            <a:ext cx="895350" cy="895350"/>
            <a:chOff x="0" y="0"/>
            <a:chExt cx="1193800" cy="1193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700784" y="3874770"/>
            <a:ext cx="342900" cy="342900"/>
            <a:chOff x="0" y="0"/>
            <a:chExt cx="457200" cy="4572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492121" y="2705729"/>
            <a:ext cx="14224254" cy="1914754"/>
            <a:chOff x="0" y="0"/>
            <a:chExt cx="18965672" cy="25530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965670" cy="2553004"/>
            </a:xfrm>
            <a:custGeom>
              <a:avLst/>
              <a:gdLst/>
              <a:ahLst/>
              <a:cxnLst/>
              <a:rect r="r" b="b" t="t" l="l"/>
              <a:pathLst>
                <a:path h="2553004" w="18965670">
                  <a:moveTo>
                    <a:pt x="0" y="0"/>
                  </a:moveTo>
                  <a:lnTo>
                    <a:pt x="18965670" y="0"/>
                  </a:lnTo>
                  <a:lnTo>
                    <a:pt x="18965670" y="2553004"/>
                  </a:lnTo>
                  <a:lnTo>
                    <a:pt x="0" y="25530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749" r="0" b="-947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8965672" cy="258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Applied Materials – Drift-Sense: Sub-Pixel Pattern Matching &amp; Mechatronic Stage Drift Compensation for SEM Wafer Metrology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33398" y="4535024"/>
            <a:ext cx="15420746" cy="4202868"/>
            <a:chOff x="0" y="0"/>
            <a:chExt cx="20560995" cy="5603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561046" cy="5603875"/>
            </a:xfrm>
            <a:custGeom>
              <a:avLst/>
              <a:gdLst/>
              <a:ahLst/>
              <a:cxnLst/>
              <a:rect r="r" b="b" t="t" l="l"/>
              <a:pathLst>
                <a:path h="5603875" w="20561046">
                  <a:moveTo>
                    <a:pt x="0" y="0"/>
                  </a:moveTo>
                  <a:lnTo>
                    <a:pt x="20561046" y="0"/>
                  </a:lnTo>
                  <a:lnTo>
                    <a:pt x="20561046" y="5603875"/>
                  </a:lnTo>
                  <a:lnTo>
                    <a:pt x="0" y="5603875"/>
                  </a:lnTo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634871" y="4544549"/>
            <a:ext cx="3887429" cy="523018"/>
            <a:chOff x="0" y="0"/>
            <a:chExt cx="5183238" cy="6973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83232" cy="697362"/>
            </a:xfrm>
            <a:custGeom>
              <a:avLst/>
              <a:gdLst/>
              <a:ahLst/>
              <a:cxnLst/>
              <a:rect r="r" b="b" t="t" l="l"/>
              <a:pathLst>
                <a:path h="697362" w="5183232">
                  <a:moveTo>
                    <a:pt x="0" y="0"/>
                  </a:moveTo>
                  <a:lnTo>
                    <a:pt x="5183232" y="0"/>
                  </a:lnTo>
                  <a:lnTo>
                    <a:pt x="5183232" y="697362"/>
                  </a:lnTo>
                  <a:lnTo>
                    <a:pt x="0" y="6973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825" r="0" b="-9482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183238" cy="71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DESCRIPTION / DETAILS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34871" y="4732020"/>
            <a:ext cx="15345099" cy="6476390"/>
            <a:chOff x="0" y="0"/>
            <a:chExt cx="20460132" cy="863518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60128" cy="8635186"/>
            </a:xfrm>
            <a:custGeom>
              <a:avLst/>
              <a:gdLst/>
              <a:ahLst/>
              <a:cxnLst/>
              <a:rect r="r" b="b" t="t" l="l"/>
              <a:pathLst>
                <a:path h="8635186" w="20460128">
                  <a:moveTo>
                    <a:pt x="0" y="0"/>
                  </a:moveTo>
                  <a:lnTo>
                    <a:pt x="20460128" y="0"/>
                  </a:lnTo>
                  <a:lnTo>
                    <a:pt x="20460128" y="8635186"/>
                  </a:lnTo>
                  <a:lnTo>
                    <a:pt x="0" y="86351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150" t="0" r="-415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0460132" cy="8654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Context: Automated CD-SEM tools must precisely inspect sub-10nm semiconductor features across repetitive wafer dies.</a:t>
              </a: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Stage Drift: Physical stage translation (), chuck rotation (), and optical scaling shift target features off-center.</a:t>
              </a: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SEM Noise: Severe Poisson shot noise, beam astigmatism blur, and charging scanlines degrade pattern visibility.</a:t>
              </a: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Lattice Ambiguity: Repetitive DRAM/FinFET arrays produce identical correlation peaks, causing false pattern locks.</a:t>
              </a: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Significance: Localization errors  cause false defect calls and wafer scrap, making  sub-pixel precision vital for fab yield.</a:t>
              </a: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57250" y="399440"/>
            <a:ext cx="16573043" cy="1286561"/>
            <a:chOff x="0" y="0"/>
            <a:chExt cx="22097390" cy="17154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300173" y="625221"/>
            <a:ext cx="13745232" cy="879653"/>
            <a:chOff x="0" y="0"/>
            <a:chExt cx="18326976" cy="11728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16024403" cy="700888"/>
            <a:chOff x="0" y="0"/>
            <a:chExt cx="21365870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65873" cy="934516"/>
            </a:xfrm>
            <a:custGeom>
              <a:avLst/>
              <a:gdLst/>
              <a:ahLst/>
              <a:cxnLst/>
              <a:rect r="r" b="b" t="t" l="l"/>
              <a:pathLst>
                <a:path h="934516" w="21365873">
                  <a:moveTo>
                    <a:pt x="0" y="0"/>
                  </a:moveTo>
                  <a:lnTo>
                    <a:pt x="21365873" y="0"/>
                  </a:lnTo>
                  <a:lnTo>
                    <a:pt x="21365873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5487" r="0" b="-3954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365870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Description - </a:t>
              </a:r>
              <a:r>
                <a:rPr lang="en-US" sz="3600" b="true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Describe your Idea/Solution</a:t>
              </a:r>
              <a:r>
                <a:rPr lang="en-US" b="true" sz="3600" u="sng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/</a:t>
              </a:r>
              <a:r>
                <a:rPr lang="en-US" sz="3600" b="true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Prototype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3599231"/>
            <a:ext cx="895350" cy="895350"/>
            <a:chOff x="0" y="0"/>
            <a:chExt cx="1193800" cy="1193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743304" y="3874770"/>
            <a:ext cx="257861" cy="342900"/>
            <a:chOff x="0" y="0"/>
            <a:chExt cx="343814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43789" cy="457200"/>
            </a:xfrm>
            <a:custGeom>
              <a:avLst/>
              <a:gdLst/>
              <a:ahLst/>
              <a:cxnLst/>
              <a:rect r="r" b="b" t="t" l="l"/>
              <a:pathLst>
                <a:path h="457200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32" t="0" r="125" b="-44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44039" y="3499409"/>
            <a:ext cx="14720011" cy="943661"/>
            <a:chOff x="0" y="0"/>
            <a:chExt cx="19626682" cy="12582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626683" cy="1258214"/>
            </a:xfrm>
            <a:custGeom>
              <a:avLst/>
              <a:gdLst/>
              <a:ahLst/>
              <a:cxnLst/>
              <a:rect r="r" b="b" t="t" l="l"/>
              <a:pathLst>
                <a:path h="1258214" w="19626683">
                  <a:moveTo>
                    <a:pt x="0" y="0"/>
                  </a:moveTo>
                  <a:lnTo>
                    <a:pt x="19626683" y="0"/>
                  </a:lnTo>
                  <a:lnTo>
                    <a:pt x="19626683" y="1258214"/>
                  </a:lnTo>
                  <a:lnTo>
                    <a:pt x="0" y="12582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3944" r="0" b="-2539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9626682" cy="127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Provide a brief summary of your idea, including the key concept and approach. Provide a brief overview of your solution and how it addresses the problem statement.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24254" y="4751756"/>
            <a:ext cx="15420746" cy="2088510"/>
            <a:chOff x="0" y="0"/>
            <a:chExt cx="20560995" cy="27846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561046" cy="2784731"/>
            </a:xfrm>
            <a:custGeom>
              <a:avLst/>
              <a:gdLst/>
              <a:ahLst/>
              <a:cxnLst/>
              <a:rect r="r" b="b" t="t" l="l"/>
              <a:pathLst>
                <a:path h="2784731" w="20561046">
                  <a:moveTo>
                    <a:pt x="0" y="242075"/>
                  </a:moveTo>
                  <a:cubicBezTo>
                    <a:pt x="0" y="108361"/>
                    <a:pt x="118872" y="0"/>
                    <a:pt x="265557" y="0"/>
                  </a:cubicBezTo>
                  <a:lnTo>
                    <a:pt x="20295488" y="0"/>
                  </a:lnTo>
                  <a:cubicBezTo>
                    <a:pt x="20442174" y="0"/>
                    <a:pt x="20561046" y="108361"/>
                    <a:pt x="20561046" y="242075"/>
                  </a:cubicBezTo>
                  <a:lnTo>
                    <a:pt x="20561046" y="2542652"/>
                  </a:lnTo>
                  <a:cubicBezTo>
                    <a:pt x="20561046" y="2676366"/>
                    <a:pt x="20442174" y="2784731"/>
                    <a:pt x="20295488" y="2784731"/>
                  </a:cubicBezTo>
                  <a:lnTo>
                    <a:pt x="265557" y="2784731"/>
                  </a:lnTo>
                  <a:cubicBezTo>
                    <a:pt x="118872" y="2784731"/>
                    <a:pt x="0" y="2676250"/>
                    <a:pt x="0" y="2542652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936242" y="4671670"/>
            <a:ext cx="4027160" cy="943661"/>
            <a:chOff x="0" y="0"/>
            <a:chExt cx="5369547" cy="125821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9552" cy="1258214"/>
            </a:xfrm>
            <a:custGeom>
              <a:avLst/>
              <a:gdLst/>
              <a:ahLst/>
              <a:cxnLst/>
              <a:rect r="r" b="b" t="t" l="l"/>
              <a:pathLst>
                <a:path h="1258214" w="5369552">
                  <a:moveTo>
                    <a:pt x="0" y="0"/>
                  </a:moveTo>
                  <a:lnTo>
                    <a:pt x="5369552" y="0"/>
                  </a:lnTo>
                  <a:lnTo>
                    <a:pt x="5369552" y="1258214"/>
                  </a:lnTo>
                  <a:lnTo>
                    <a:pt x="0" y="12582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54" r="0" b="-3315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369547" cy="1277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CONCEPT &amp; APPROACH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43304" y="7067677"/>
            <a:ext cx="15420746" cy="2568315"/>
            <a:chOff x="0" y="0"/>
            <a:chExt cx="20560995" cy="34244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561047" cy="3424470"/>
            </a:xfrm>
            <a:custGeom>
              <a:avLst/>
              <a:gdLst/>
              <a:ahLst/>
              <a:cxnLst/>
              <a:rect r="r" b="b" t="t" l="l"/>
              <a:pathLst>
                <a:path h="3424470" w="20561047">
                  <a:moveTo>
                    <a:pt x="0" y="297711"/>
                  </a:moveTo>
                  <a:cubicBezTo>
                    <a:pt x="0" y="133168"/>
                    <a:pt x="70612" y="0"/>
                    <a:pt x="157861" y="0"/>
                  </a:cubicBezTo>
                  <a:lnTo>
                    <a:pt x="20403186" y="0"/>
                  </a:lnTo>
                  <a:cubicBezTo>
                    <a:pt x="20490307" y="0"/>
                    <a:pt x="20561047" y="133168"/>
                    <a:pt x="20561047" y="297711"/>
                  </a:cubicBezTo>
                  <a:lnTo>
                    <a:pt x="20561047" y="3126804"/>
                  </a:lnTo>
                  <a:cubicBezTo>
                    <a:pt x="20561047" y="3291108"/>
                    <a:pt x="20490435" y="3424470"/>
                    <a:pt x="20403186" y="3424470"/>
                  </a:cubicBezTo>
                  <a:lnTo>
                    <a:pt x="157861" y="3424470"/>
                  </a:lnTo>
                  <a:cubicBezTo>
                    <a:pt x="70612" y="3424470"/>
                    <a:pt x="0" y="3291108"/>
                    <a:pt x="0" y="3126804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936242" y="7210552"/>
            <a:ext cx="2322119" cy="286664"/>
            <a:chOff x="0" y="0"/>
            <a:chExt cx="3096158" cy="3822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96158" cy="382220"/>
            </a:xfrm>
            <a:custGeom>
              <a:avLst/>
              <a:gdLst/>
              <a:ahLst/>
              <a:cxnLst/>
              <a:rect r="r" b="b" t="t" l="l"/>
              <a:pathLst>
                <a:path h="382220" w="3096158">
                  <a:moveTo>
                    <a:pt x="0" y="0"/>
                  </a:moveTo>
                  <a:lnTo>
                    <a:pt x="3096158" y="0"/>
                  </a:lnTo>
                  <a:lnTo>
                    <a:pt x="3096158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837" r="0" b="-10783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096158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SOLUTION OVERVIEW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36242" y="7611516"/>
            <a:ext cx="14415516" cy="2041093"/>
            <a:chOff x="0" y="0"/>
            <a:chExt cx="17803268" cy="25207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803268" cy="2520765"/>
            </a:xfrm>
            <a:custGeom>
              <a:avLst/>
              <a:gdLst/>
              <a:ahLst/>
              <a:cxnLst/>
              <a:rect r="r" b="b" t="t" l="l"/>
              <a:pathLst>
                <a:path h="2520765" w="17803268">
                  <a:moveTo>
                    <a:pt x="0" y="0"/>
                  </a:moveTo>
                  <a:lnTo>
                    <a:pt x="17803268" y="0"/>
                  </a:lnTo>
                  <a:lnTo>
                    <a:pt x="17803268" y="2520765"/>
                  </a:lnTo>
                  <a:lnTo>
                    <a:pt x="0" y="25207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054" r="4981" b="-3946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7803268" cy="253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Complete Suite: Drift-Sense integrates a zero-GPU sub-pixel localization engine with a real-time inspection dashboard.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Synthetic Physics Engine: Procedurally simulates DRAM/FinFET layouts with Poisson shot noise, charging scanlines, and astigmatism.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Robust to Distortions: Reliably overcomes stage drift ( ), chuck rotation ( ), and periodic lattice ambiguity.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Proven Accuracy: Achieves 96.67% pass rate ( ) and 90.00% sub-pixel precision ( ) across 30 test pairs.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Fab-Ready Speed: Executes in ~1.26s on standard CPU, preventing false CD metrology errors and wafer scrap.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57250" y="314401"/>
            <a:ext cx="16573043" cy="1286561"/>
            <a:chOff x="0" y="0"/>
            <a:chExt cx="22097390" cy="171541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252062" y="494081"/>
            <a:ext cx="13745232" cy="879653"/>
            <a:chOff x="0" y="0"/>
            <a:chExt cx="18326976" cy="117287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936242" y="5424399"/>
            <a:ext cx="1484725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Scale &amp; Rotation Sweep: Downscales the reference template to and tests angles ( ) to correct geometric misalignment. 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Robust NCC Matching: Uses Normalized Cross-Correlation to find candidate match locations despite severe imaging noise. 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Center-Bias Prior: Resolves periodic DRAM/FinFET lattice ambiguity by favoring the nominal landing area.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Sub-Pixel Peak Fitting: Employs 2D parabolic interpolation to calculate precise continuous coordinates ( ). </a:t>
            </a:r>
          </a:p>
          <a:p>
            <a:pPr algn="l" marL="356235" indent="-178118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 &amp; Deterministic: Achieves sub-pixel accuracy in ~1.26s on standard CPU without training data or GPUs.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15444216" cy="700888"/>
            <a:chOff x="0" y="0"/>
            <a:chExt cx="20592288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592289" cy="934516"/>
            </a:xfrm>
            <a:custGeom>
              <a:avLst/>
              <a:gdLst/>
              <a:ahLst/>
              <a:cxnLst/>
              <a:rect r="r" b="b" t="t" l="l"/>
              <a:pathLst>
                <a:path h="934516" w="20592289">
                  <a:moveTo>
                    <a:pt x="0" y="0"/>
                  </a:moveTo>
                  <a:lnTo>
                    <a:pt x="20592289" y="0"/>
                  </a:lnTo>
                  <a:lnTo>
                    <a:pt x="20592289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9357" r="0" b="-3793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592288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Proposed Solution -</a:t>
              </a:r>
              <a:r>
                <a:rPr lang="en-US" sz="3600" b="true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Describe your Idea/Solution</a:t>
              </a:r>
              <a:r>
                <a:rPr lang="en-US" b="true" sz="3600" u="sng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/</a:t>
              </a:r>
              <a:r>
                <a:rPr lang="en-US" sz="3600" b="true">
                  <a:solidFill>
                    <a:srgbClr val="4454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Prototype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53236" y="3582200"/>
            <a:ext cx="895350" cy="895350"/>
            <a:chOff x="0" y="0"/>
            <a:chExt cx="1193800" cy="1193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86255" y="3858425"/>
            <a:ext cx="429311" cy="342900"/>
            <a:chOff x="0" y="0"/>
            <a:chExt cx="572414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72389" cy="457200"/>
            </a:xfrm>
            <a:custGeom>
              <a:avLst/>
              <a:gdLst/>
              <a:ahLst/>
              <a:cxnLst/>
              <a:rect r="r" b="b" t="t" l="l"/>
              <a:pathLst>
                <a:path h="457200" w="572389">
                  <a:moveTo>
                    <a:pt x="0" y="0"/>
                  </a:moveTo>
                  <a:lnTo>
                    <a:pt x="572389" y="0"/>
                  </a:lnTo>
                  <a:lnTo>
                    <a:pt x="57238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79" t="0" r="-19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300425" y="3582200"/>
            <a:ext cx="15158443" cy="1080440"/>
            <a:chOff x="0" y="0"/>
            <a:chExt cx="20211257" cy="14405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211258" cy="1440586"/>
            </a:xfrm>
            <a:custGeom>
              <a:avLst/>
              <a:gdLst/>
              <a:ahLst/>
              <a:cxnLst/>
              <a:rect r="r" b="b" t="t" l="l"/>
              <a:pathLst>
                <a:path h="1440586" w="20211258">
                  <a:moveTo>
                    <a:pt x="0" y="0"/>
                  </a:moveTo>
                  <a:lnTo>
                    <a:pt x="20211258" y="0"/>
                  </a:lnTo>
                  <a:lnTo>
                    <a:pt x="20211258" y="1440586"/>
                  </a:lnTo>
                  <a:lnTo>
                    <a:pt x="0" y="14405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7581" r="-663" b="-2227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0211257" cy="1469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Describe your idea in detail. Include the methodology, technologies involved, and how it addresses the chosen problem statement.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3398" y="4820707"/>
            <a:ext cx="15420746" cy="4894336"/>
            <a:chOff x="0" y="0"/>
            <a:chExt cx="20560995" cy="6525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560920" cy="6525653"/>
            </a:xfrm>
            <a:custGeom>
              <a:avLst/>
              <a:gdLst/>
              <a:ahLst/>
              <a:cxnLst/>
              <a:rect r="r" b="b" t="t" l="l"/>
              <a:pathLst>
                <a:path h="6525653" w="20560920">
                  <a:moveTo>
                    <a:pt x="0" y="279000"/>
                  </a:moveTo>
                  <a:cubicBezTo>
                    <a:pt x="0" y="125036"/>
                    <a:pt x="49403" y="0"/>
                    <a:pt x="110236" y="0"/>
                  </a:cubicBezTo>
                  <a:lnTo>
                    <a:pt x="20450683" y="0"/>
                  </a:lnTo>
                  <a:cubicBezTo>
                    <a:pt x="20511644" y="0"/>
                    <a:pt x="20560920" y="125036"/>
                    <a:pt x="20560920" y="279000"/>
                  </a:cubicBezTo>
                  <a:lnTo>
                    <a:pt x="20560920" y="6246652"/>
                  </a:lnTo>
                  <a:cubicBezTo>
                    <a:pt x="20560920" y="6400938"/>
                    <a:pt x="20511517" y="6525653"/>
                    <a:pt x="20450683" y="6525653"/>
                  </a:cubicBezTo>
                  <a:lnTo>
                    <a:pt x="110236" y="6525653"/>
                  </a:lnTo>
                  <a:cubicBezTo>
                    <a:pt x="49276" y="6525653"/>
                    <a:pt x="0" y="6400616"/>
                    <a:pt x="0" y="6246652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675152" y="5000168"/>
            <a:ext cx="2050542" cy="286664"/>
            <a:chOff x="0" y="0"/>
            <a:chExt cx="2734056" cy="3822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34056" cy="382220"/>
            </a:xfrm>
            <a:custGeom>
              <a:avLst/>
              <a:gdLst/>
              <a:ahLst/>
              <a:cxnLst/>
              <a:rect r="r" b="b" t="t" l="l"/>
              <a:pathLst>
                <a:path h="382220" w="2734056">
                  <a:moveTo>
                    <a:pt x="0" y="0"/>
                  </a:moveTo>
                  <a:lnTo>
                    <a:pt x="2734056" y="0"/>
                  </a:lnTo>
                  <a:lnTo>
                    <a:pt x="2734056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378" r="0" b="-8937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734056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SOLUTION DETAILS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85912" y="5286832"/>
            <a:ext cx="15115718" cy="4617835"/>
            <a:chOff x="0" y="0"/>
            <a:chExt cx="20154290" cy="615711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154291" cy="6157111"/>
            </a:xfrm>
            <a:custGeom>
              <a:avLst/>
              <a:gdLst/>
              <a:ahLst/>
              <a:cxnLst/>
              <a:rect r="r" b="b" t="t" l="l"/>
              <a:pathLst>
                <a:path h="6157111" w="20154291">
                  <a:moveTo>
                    <a:pt x="0" y="0"/>
                  </a:moveTo>
                  <a:lnTo>
                    <a:pt x="20154291" y="0"/>
                  </a:lnTo>
                  <a:lnTo>
                    <a:pt x="20154291" y="6157111"/>
                  </a:lnTo>
                  <a:lnTo>
                    <a:pt x="0" y="6157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730" r="10720" b="348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0154290" cy="6176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Multi-Scale Geometric Alignment: Downsamples the reference template (~ ) across affine rotation sweeps ( ) to correct stage skew. 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Robust ZNCC Matching: Evaluates Zero-Mean Normalized Cross-Correlation to deliver illumination- and contrast-invariant candidate matching.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• Gaussian Center-Bias Prior: Applies a spatial distance penalty to mathematically resolve periodic lattice ambiguity in dense DRAM arrays. 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2D Parabolic Peak Fitting: Employs quadratic Taylor interpolation around correlation peaks to calculate continuous sub-pixel coordinates ( ).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• CPU-Optimized Software Stack: Implemented in Python/NumPy/OpenCV &amp; TypeScript/React for real-time inference (~1.26s) without requiring GPU hardware.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57250" y="214198"/>
            <a:ext cx="16573043" cy="1286561"/>
            <a:chOff x="0" y="0"/>
            <a:chExt cx="22097390" cy="171541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199827" y="415004"/>
            <a:ext cx="13745232" cy="879653"/>
            <a:chOff x="0" y="0"/>
            <a:chExt cx="18326976" cy="11728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7479335" cy="700888"/>
            <a:chOff x="0" y="0"/>
            <a:chExt cx="9972446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72446" cy="934516"/>
            </a:xfrm>
            <a:custGeom>
              <a:avLst/>
              <a:gdLst/>
              <a:ahLst/>
              <a:cxnLst/>
              <a:rect r="r" b="b" t="t" l="l"/>
              <a:pathLst>
                <a:path h="934516" w="9972446">
                  <a:moveTo>
                    <a:pt x="0" y="0"/>
                  </a:moveTo>
                  <a:lnTo>
                    <a:pt x="9972446" y="0"/>
                  </a:lnTo>
                  <a:lnTo>
                    <a:pt x="9972446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7929" r="0" b="-1579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972446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Innovation and Uniqueness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3599231"/>
            <a:ext cx="895350" cy="895350"/>
            <a:chOff x="0" y="0"/>
            <a:chExt cx="1193800" cy="1193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743304" y="3874770"/>
            <a:ext cx="257861" cy="342900"/>
            <a:chOff x="0" y="0"/>
            <a:chExt cx="343814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343789" cy="457200"/>
            </a:xfrm>
            <a:custGeom>
              <a:avLst/>
              <a:gdLst/>
              <a:ahLst/>
              <a:cxnLst/>
              <a:rect r="r" b="b" t="t" l="l"/>
              <a:pathLst>
                <a:path h="457200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132" t="0" r="125" b="-44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04662" y="3663010"/>
            <a:ext cx="14702180" cy="471830"/>
            <a:chOff x="0" y="0"/>
            <a:chExt cx="19602907" cy="6291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602907" cy="629108"/>
            </a:xfrm>
            <a:custGeom>
              <a:avLst/>
              <a:gdLst/>
              <a:ahLst/>
              <a:cxnLst/>
              <a:rect r="r" b="b" t="t" l="l"/>
              <a:pathLst>
                <a:path h="629108" w="19602907">
                  <a:moveTo>
                    <a:pt x="0" y="0"/>
                  </a:moveTo>
                  <a:lnTo>
                    <a:pt x="19602907" y="0"/>
                  </a:lnTo>
                  <a:lnTo>
                    <a:pt x="19602907" y="629108"/>
                  </a:lnTo>
                  <a:lnTo>
                    <a:pt x="0" y="6291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150" r="0" b="-5571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9602907" cy="657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Highlight what makes your idea unique or innovative compared to existing solutions.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3398" y="4761281"/>
            <a:ext cx="7549134" cy="4782541"/>
            <a:chOff x="0" y="0"/>
            <a:chExt cx="10065512" cy="637672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65512" cy="6376665"/>
            </a:xfrm>
            <a:custGeom>
              <a:avLst/>
              <a:gdLst/>
              <a:ahLst/>
              <a:cxnLst/>
              <a:rect r="r" b="b" t="t" l="l"/>
              <a:pathLst>
                <a:path h="6376665" w="10065512">
                  <a:moveTo>
                    <a:pt x="0" y="217638"/>
                  </a:moveTo>
                  <a:cubicBezTo>
                    <a:pt x="0" y="97446"/>
                    <a:pt x="44069" y="0"/>
                    <a:pt x="98425" y="0"/>
                  </a:cubicBezTo>
                  <a:lnTo>
                    <a:pt x="9967087" y="0"/>
                  </a:lnTo>
                  <a:cubicBezTo>
                    <a:pt x="10021443" y="0"/>
                    <a:pt x="10065512" y="97446"/>
                    <a:pt x="10065512" y="217638"/>
                  </a:cubicBezTo>
                  <a:lnTo>
                    <a:pt x="10065512" y="6159026"/>
                  </a:lnTo>
                  <a:cubicBezTo>
                    <a:pt x="10065512" y="6279219"/>
                    <a:pt x="10021443" y="6376665"/>
                    <a:pt x="9967087" y="6376665"/>
                  </a:cubicBezTo>
                  <a:lnTo>
                    <a:pt x="98425" y="6376665"/>
                  </a:lnTo>
                  <a:cubicBezTo>
                    <a:pt x="44069" y="6376665"/>
                    <a:pt x="0" y="6279219"/>
                    <a:pt x="0" y="6159026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64668" y="4891506"/>
            <a:ext cx="1907896" cy="286664"/>
            <a:chOff x="0" y="0"/>
            <a:chExt cx="2543861" cy="3822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43860" cy="382220"/>
            </a:xfrm>
            <a:custGeom>
              <a:avLst/>
              <a:gdLst/>
              <a:ahLst/>
              <a:cxnLst/>
              <a:rect r="r" b="b" t="t" l="l"/>
              <a:pathLst>
                <a:path h="382220" w="2543860">
                  <a:moveTo>
                    <a:pt x="0" y="0"/>
                  </a:moveTo>
                  <a:lnTo>
                    <a:pt x="2543860" y="0"/>
                  </a:lnTo>
                  <a:lnTo>
                    <a:pt x="2543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682" r="0" b="-79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543861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INNOVATION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64668" y="5273649"/>
            <a:ext cx="7348164" cy="4441393"/>
            <a:chOff x="0" y="0"/>
            <a:chExt cx="9797551" cy="59218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97552" cy="5921858"/>
            </a:xfrm>
            <a:custGeom>
              <a:avLst/>
              <a:gdLst/>
              <a:ahLst/>
              <a:cxnLst/>
              <a:rect r="r" b="b" t="t" l="l"/>
              <a:pathLst>
                <a:path h="5921858" w="9797552">
                  <a:moveTo>
                    <a:pt x="0" y="0"/>
                  </a:moveTo>
                  <a:lnTo>
                    <a:pt x="9797552" y="0"/>
                  </a:lnTo>
                  <a:lnTo>
                    <a:pt x="9797552" y="5921858"/>
                  </a:lnTo>
                  <a:lnTo>
                    <a:pt x="0" y="5921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582" r="9582" b="6328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9797551" cy="5940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Physics-Informed Mechatronic Prior: Integrates stage landing probability to mathematically eliminate false locks in periodic DRAM lattices.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Continuous 2D Sub-Pixel Interpolation: Uses parabolic Taylor expansion on correlation peaks to achieve registration accuracy.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• Synthetic SEM Physics Engine: Procedurally emulates Poisson shot noise, dielectric charging scanlines, and astigmatism without beam-time.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Multi-Scale Affine Normalization: Geometrically aligns reference templates to search fields across continuous rotations ( ).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Zero-Training Deterministic Logic: Completely explainable mathematical pipeline with zero hallucinations or out-of-distribution risks.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06382" y="4761281"/>
            <a:ext cx="7810043" cy="4782541"/>
            <a:chOff x="0" y="0"/>
            <a:chExt cx="10413390" cy="63767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13391" cy="6376665"/>
            </a:xfrm>
            <a:custGeom>
              <a:avLst/>
              <a:gdLst/>
              <a:ahLst/>
              <a:cxnLst/>
              <a:rect r="r" b="b" t="t" l="l"/>
              <a:pathLst>
                <a:path h="6376665" w="10413391">
                  <a:moveTo>
                    <a:pt x="0" y="217638"/>
                  </a:moveTo>
                  <a:cubicBezTo>
                    <a:pt x="0" y="97446"/>
                    <a:pt x="45592" y="0"/>
                    <a:pt x="101827" y="0"/>
                  </a:cubicBezTo>
                  <a:lnTo>
                    <a:pt x="10311564" y="0"/>
                  </a:lnTo>
                  <a:cubicBezTo>
                    <a:pt x="10367799" y="0"/>
                    <a:pt x="10413391" y="97446"/>
                    <a:pt x="10413391" y="217638"/>
                  </a:cubicBezTo>
                  <a:lnTo>
                    <a:pt x="10413391" y="6159026"/>
                  </a:lnTo>
                  <a:cubicBezTo>
                    <a:pt x="10413391" y="6279219"/>
                    <a:pt x="10367799" y="6376665"/>
                    <a:pt x="10311564" y="6376665"/>
                  </a:cubicBezTo>
                  <a:lnTo>
                    <a:pt x="101827" y="6376665"/>
                  </a:lnTo>
                  <a:cubicBezTo>
                    <a:pt x="45592" y="6376665"/>
                    <a:pt x="0" y="6279219"/>
                    <a:pt x="0" y="6159026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538093" y="4891506"/>
            <a:ext cx="2851556" cy="286664"/>
            <a:chOff x="0" y="0"/>
            <a:chExt cx="3802075" cy="3822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02076" cy="382220"/>
            </a:xfrm>
            <a:custGeom>
              <a:avLst/>
              <a:gdLst/>
              <a:ahLst/>
              <a:cxnLst/>
              <a:rect r="r" b="b" t="t" l="l"/>
              <a:pathLst>
                <a:path h="382220" w="3802076">
                  <a:moveTo>
                    <a:pt x="0" y="0"/>
                  </a:moveTo>
                  <a:lnTo>
                    <a:pt x="3802076" y="0"/>
                  </a:lnTo>
                  <a:lnTo>
                    <a:pt x="3802076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3824" r="0" b="-1438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802075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COMPETITIVE ADVANTAGE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58733" y="5178171"/>
            <a:ext cx="7543620" cy="4708093"/>
            <a:chOff x="0" y="0"/>
            <a:chExt cx="10058161" cy="627745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58160" cy="6277458"/>
            </a:xfrm>
            <a:custGeom>
              <a:avLst/>
              <a:gdLst/>
              <a:ahLst/>
              <a:cxnLst/>
              <a:rect r="r" b="b" t="t" l="l"/>
              <a:pathLst>
                <a:path h="6277458" w="10058160">
                  <a:moveTo>
                    <a:pt x="0" y="0"/>
                  </a:moveTo>
                  <a:lnTo>
                    <a:pt x="10058160" y="0"/>
                  </a:lnTo>
                  <a:lnTo>
                    <a:pt x="10058160" y="6277458"/>
                  </a:lnTo>
                  <a:lnTo>
                    <a:pt x="0" y="62774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37" r="15707" b="629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0058161" cy="6296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No GPU Hardware Required: Fully CPU-optimized, easily deploying directly onto existing industrial SEM embedded controllers. 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Zero Data Annotation Cost: Eliminates the need for thousands of manually labeled SEM images required by Deep Learning/CNNs.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</a:t>
              </a: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Ultra-Fast Throughput: Delivers ~1.26s inference per image pair, preventing wafer inspection bottlenecks.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• Proven High Accuracy: Achieved 96.67% pass rate ( ) and 90.00% sub-pixel accuracy ( ) in 30-pair test suite. 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Interactive Metrology Suite: Features a real-time web dashboard for parameter tuning, physics visualization, and instant batch benchmarking.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67485" y="342976"/>
            <a:ext cx="2411054" cy="1175385"/>
            <a:chOff x="0" y="0"/>
            <a:chExt cx="3214738" cy="15671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57250" y="387096"/>
            <a:ext cx="16573043" cy="1286561"/>
            <a:chOff x="0" y="0"/>
            <a:chExt cx="22097390" cy="171541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236394" y="590550"/>
            <a:ext cx="13745232" cy="879653"/>
            <a:chOff x="0" y="0"/>
            <a:chExt cx="18326976" cy="11728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5593385" cy="700888"/>
            <a:chOff x="0" y="0"/>
            <a:chExt cx="7457846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57846" cy="934516"/>
            </a:xfrm>
            <a:custGeom>
              <a:avLst/>
              <a:gdLst/>
              <a:ahLst/>
              <a:cxnLst/>
              <a:rect r="r" b="b" t="t" l="l"/>
              <a:pathLst>
                <a:path h="934516" w="7457846">
                  <a:moveTo>
                    <a:pt x="0" y="0"/>
                  </a:moveTo>
                  <a:lnTo>
                    <a:pt x="7457846" y="0"/>
                  </a:lnTo>
                  <a:lnTo>
                    <a:pt x="7457846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5499" r="0" b="-10549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457846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Impact and Benefits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3599231"/>
            <a:ext cx="895350" cy="895350"/>
            <a:chOff x="0" y="0"/>
            <a:chExt cx="1193800" cy="1193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700784" y="3874770"/>
            <a:ext cx="342900" cy="342900"/>
            <a:chOff x="0" y="0"/>
            <a:chExt cx="457200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00911" y="4494581"/>
            <a:ext cx="15359177" cy="1028700"/>
            <a:chOff x="0" y="0"/>
            <a:chExt cx="20478902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478902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78902">
                  <a:moveTo>
                    <a:pt x="0" y="0"/>
                  </a:moveTo>
                  <a:lnTo>
                    <a:pt x="20478902" y="0"/>
                  </a:lnTo>
                  <a:lnTo>
                    <a:pt x="2047890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0924" r="0" b="-2409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0478902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Explain how your solution will make an impact, such as improving performance, reducing costs, increasing efficiency, or solving other challenges.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33398" y="5799506"/>
            <a:ext cx="7549134" cy="3836254"/>
            <a:chOff x="0" y="0"/>
            <a:chExt cx="10065512" cy="511500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65512" cy="5114953"/>
            </a:xfrm>
            <a:custGeom>
              <a:avLst/>
              <a:gdLst/>
              <a:ahLst/>
              <a:cxnLst/>
              <a:rect r="r" b="b" t="t" l="l"/>
              <a:pathLst>
                <a:path h="5114953" w="10065512">
                  <a:moveTo>
                    <a:pt x="0" y="247355"/>
                  </a:moveTo>
                  <a:cubicBezTo>
                    <a:pt x="0" y="110828"/>
                    <a:pt x="52578" y="0"/>
                    <a:pt x="117348" y="0"/>
                  </a:cubicBezTo>
                  <a:lnTo>
                    <a:pt x="9948164" y="0"/>
                  </a:lnTo>
                  <a:cubicBezTo>
                    <a:pt x="10012934" y="0"/>
                    <a:pt x="10065512" y="110828"/>
                    <a:pt x="10065512" y="247355"/>
                  </a:cubicBezTo>
                  <a:lnTo>
                    <a:pt x="10065512" y="4867597"/>
                  </a:lnTo>
                  <a:cubicBezTo>
                    <a:pt x="10065512" y="5004125"/>
                    <a:pt x="10012934" y="5114953"/>
                    <a:pt x="9948164" y="5114953"/>
                  </a:cubicBezTo>
                  <a:lnTo>
                    <a:pt x="117348" y="5114953"/>
                  </a:lnTo>
                  <a:cubicBezTo>
                    <a:pt x="52578" y="5114953"/>
                    <a:pt x="0" y="5004125"/>
                    <a:pt x="0" y="4867597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00784" y="5993496"/>
            <a:ext cx="229057" cy="229057"/>
            <a:chOff x="0" y="0"/>
            <a:chExt cx="305410" cy="30541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05435" cy="305435"/>
            </a:xfrm>
            <a:custGeom>
              <a:avLst/>
              <a:gdLst/>
              <a:ahLst/>
              <a:cxnLst/>
              <a:rect r="r" b="b" t="t" l="l"/>
              <a:pathLst>
                <a:path h="305435" w="305435">
                  <a:moveTo>
                    <a:pt x="0" y="0"/>
                  </a:moveTo>
                  <a:lnTo>
                    <a:pt x="305435" y="0"/>
                  </a:lnTo>
                  <a:lnTo>
                    <a:pt x="30543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8" b="8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068373" y="5943433"/>
            <a:ext cx="1986077" cy="329184"/>
            <a:chOff x="0" y="0"/>
            <a:chExt cx="2648102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48102" cy="438912"/>
            </a:xfrm>
            <a:custGeom>
              <a:avLst/>
              <a:gdLst/>
              <a:ahLst/>
              <a:cxnLst/>
              <a:rect r="r" b="b" t="t" l="l"/>
              <a:pathLst>
                <a:path h="438912" w="2648102">
                  <a:moveTo>
                    <a:pt x="0" y="0"/>
                  </a:moveTo>
                  <a:lnTo>
                    <a:pt x="2648102" y="0"/>
                  </a:lnTo>
                  <a:lnTo>
                    <a:pt x="264810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559" r="0" b="-675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64810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Primary Impact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31183" y="6387753"/>
            <a:ext cx="7153565" cy="3116961"/>
            <a:chOff x="0" y="0"/>
            <a:chExt cx="9538086" cy="41559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38087" cy="4155948"/>
            </a:xfrm>
            <a:custGeom>
              <a:avLst/>
              <a:gdLst/>
              <a:ahLst/>
              <a:cxnLst/>
              <a:rect r="r" b="b" t="t" l="l"/>
              <a:pathLst>
                <a:path h="4155948" w="9538087">
                  <a:moveTo>
                    <a:pt x="0" y="0"/>
                  </a:moveTo>
                  <a:lnTo>
                    <a:pt x="9538087" y="0"/>
                  </a:lnTo>
                  <a:lnTo>
                    <a:pt x="9538087" y="4155948"/>
                  </a:lnTo>
                  <a:lnTo>
                    <a:pt x="0" y="41559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26" r="13009" b="5192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538086" cy="4174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Prevents High-Cost Wafer Scrap: Eliminates false Critical Dimension (CD) measurement errors and unnecessary wafer rejection in High-Volume Manufacturing (HVM). 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Maximizes Fab Tool Throughput: Removes manual inspection recovery and re-scan cycles with fast, automated pattern localization.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• Enables Sub-10nm Process Control: Provides deterministic sub-nanometer registration essential for next-gen FinFET and dense DRAM yield. 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Zero-Cost Integration: Runs directly on legacy fab tool controller CPUs without expensive GPU hardware upgrades. 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Reduces SEM Beam Damage: Fast single-shot matching minimizes electron-beam exposure time on delicate photoresists.</a:t>
              </a:r>
            </a:p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214485" y="5799506"/>
            <a:ext cx="7549134" cy="3836254"/>
            <a:chOff x="0" y="0"/>
            <a:chExt cx="10065512" cy="51150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65512" cy="5114953"/>
            </a:xfrm>
            <a:custGeom>
              <a:avLst/>
              <a:gdLst/>
              <a:ahLst/>
              <a:cxnLst/>
              <a:rect r="r" b="b" t="t" l="l"/>
              <a:pathLst>
                <a:path h="5114953" w="10065512">
                  <a:moveTo>
                    <a:pt x="0" y="247355"/>
                  </a:moveTo>
                  <a:cubicBezTo>
                    <a:pt x="0" y="110828"/>
                    <a:pt x="52578" y="0"/>
                    <a:pt x="117348" y="0"/>
                  </a:cubicBezTo>
                  <a:lnTo>
                    <a:pt x="9948164" y="0"/>
                  </a:lnTo>
                  <a:cubicBezTo>
                    <a:pt x="10012934" y="0"/>
                    <a:pt x="10065512" y="110828"/>
                    <a:pt x="10065512" y="247355"/>
                  </a:cubicBezTo>
                  <a:lnTo>
                    <a:pt x="10065512" y="4867597"/>
                  </a:lnTo>
                  <a:cubicBezTo>
                    <a:pt x="10065512" y="5004125"/>
                    <a:pt x="10012934" y="5114953"/>
                    <a:pt x="9948164" y="5114953"/>
                  </a:cubicBezTo>
                  <a:lnTo>
                    <a:pt x="117348" y="5114953"/>
                  </a:lnTo>
                  <a:cubicBezTo>
                    <a:pt x="52578" y="5114953"/>
                    <a:pt x="0" y="5004125"/>
                    <a:pt x="0" y="4867597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497892" y="5993496"/>
            <a:ext cx="257861" cy="229057"/>
            <a:chOff x="0" y="0"/>
            <a:chExt cx="343814" cy="30541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343789" cy="305435"/>
            </a:xfrm>
            <a:custGeom>
              <a:avLst/>
              <a:gdLst/>
              <a:ahLst/>
              <a:cxnLst/>
              <a:rect r="r" b="b" t="t" l="l"/>
              <a:pathLst>
                <a:path h="305435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33" t="0" r="25" b="-43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101834" y="5943433"/>
            <a:ext cx="2887218" cy="329184"/>
            <a:chOff x="0" y="0"/>
            <a:chExt cx="3849624" cy="4389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49624" cy="438912"/>
            </a:xfrm>
            <a:custGeom>
              <a:avLst/>
              <a:gdLst/>
              <a:ahLst/>
              <a:cxnLst/>
              <a:rect r="r" b="b" t="t" l="l"/>
              <a:pathLst>
                <a:path h="438912" w="3849624">
                  <a:moveTo>
                    <a:pt x="0" y="0"/>
                  </a:moveTo>
                  <a:lnTo>
                    <a:pt x="3849624" y="0"/>
                  </a:lnTo>
                  <a:lnTo>
                    <a:pt x="384962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900" r="0" b="-1209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849624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Quantifiable Outcomes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80499" y="6447206"/>
            <a:ext cx="7007866" cy="2659761"/>
            <a:chOff x="0" y="0"/>
            <a:chExt cx="9343822" cy="35463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43822" cy="3546348"/>
            </a:xfrm>
            <a:custGeom>
              <a:avLst/>
              <a:gdLst/>
              <a:ahLst/>
              <a:cxnLst/>
              <a:rect r="r" b="b" t="t" l="l"/>
              <a:pathLst>
                <a:path h="3546348" w="9343822">
                  <a:moveTo>
                    <a:pt x="0" y="0"/>
                  </a:moveTo>
                  <a:lnTo>
                    <a:pt x="9343822" y="0"/>
                  </a:lnTo>
                  <a:lnTo>
                    <a:pt x="9343822" y="3546348"/>
                  </a:lnTo>
                  <a:lnTo>
                    <a:pt x="0" y="35463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057" r="14664" b="4543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343822" cy="3565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96.67% Overall Pass Rate: Successfully localized targets within strict metrology limits (</a:t>
              </a: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) across 30 test pairs.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90.00% Sub-Pixel Precision: Achieved high-fidelity registration error 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across severe noise conditions.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~1.26s Execution Time: Delivers fast CPU inference per image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 pair without GPU acceleration.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100% Training &amp; Label Free: $0 spent on dataset annotation, model training runs, or GPU cloud instances.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• Robust to Drift &amp; Skew Completely suppresses false locks in repetitive periodic lattices.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10385" y="341566"/>
            <a:ext cx="2411054" cy="1175385"/>
            <a:chOff x="0" y="0"/>
            <a:chExt cx="3214738" cy="15671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57250" y="314401"/>
            <a:ext cx="16573043" cy="1286561"/>
            <a:chOff x="0" y="0"/>
            <a:chExt cx="22097390" cy="171541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443286" y="494081"/>
            <a:ext cx="13745232" cy="879653"/>
            <a:chOff x="0" y="0"/>
            <a:chExt cx="18326976" cy="117287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857146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800911"/>
            <a:ext cx="11736781" cy="700888"/>
            <a:chOff x="0" y="0"/>
            <a:chExt cx="15649042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649042" cy="934516"/>
            </a:xfrm>
            <a:custGeom>
              <a:avLst/>
              <a:gdLst/>
              <a:ahLst/>
              <a:cxnLst/>
              <a:rect r="r" b="b" t="t" l="l"/>
              <a:pathLst>
                <a:path h="934516" w="15649042">
                  <a:moveTo>
                    <a:pt x="0" y="0"/>
                  </a:moveTo>
                  <a:lnTo>
                    <a:pt x="15649042" y="0"/>
                  </a:lnTo>
                  <a:lnTo>
                    <a:pt x="15649042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288" r="0" b="-2762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649042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Technology &amp; Feasibility/Methodology Used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809113"/>
            <a:ext cx="16592093" cy="7062216"/>
            <a:chOff x="0" y="0"/>
            <a:chExt cx="22122790" cy="9416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9416288"/>
            </a:xfrm>
            <a:custGeom>
              <a:avLst/>
              <a:gdLst/>
              <a:ahLst/>
              <a:cxnLst/>
              <a:rect r="r" b="b" t="t" l="l"/>
              <a:pathLst>
                <a:path h="9416288" w="22122892">
                  <a:moveTo>
                    <a:pt x="0" y="59563"/>
                  </a:moveTo>
                  <a:cubicBezTo>
                    <a:pt x="0" y="26670"/>
                    <a:pt x="26670" y="0"/>
                    <a:pt x="59563" y="0"/>
                  </a:cubicBezTo>
                  <a:lnTo>
                    <a:pt x="22063329" y="0"/>
                  </a:lnTo>
                  <a:cubicBezTo>
                    <a:pt x="22096222" y="0"/>
                    <a:pt x="22122892" y="26670"/>
                    <a:pt x="22122892" y="59563"/>
                  </a:cubicBezTo>
                  <a:lnTo>
                    <a:pt x="22122892" y="9356725"/>
                  </a:lnTo>
                  <a:cubicBezTo>
                    <a:pt x="22122892" y="9389618"/>
                    <a:pt x="22096222" y="9416288"/>
                    <a:pt x="22063329" y="9416288"/>
                  </a:cubicBezTo>
                  <a:lnTo>
                    <a:pt x="59563" y="9416288"/>
                  </a:lnTo>
                  <a:cubicBezTo>
                    <a:pt x="26670" y="9416288"/>
                    <a:pt x="0" y="9389618"/>
                    <a:pt x="0" y="935672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79006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79006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3385261"/>
            <a:ext cx="895350" cy="895350"/>
            <a:chOff x="0" y="0"/>
            <a:chExt cx="1193800" cy="1193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38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1193800">
                  <a:moveTo>
                    <a:pt x="0" y="596900"/>
                  </a:moveTo>
                  <a:cubicBezTo>
                    <a:pt x="0" y="267208"/>
                    <a:pt x="267208" y="0"/>
                    <a:pt x="596900" y="0"/>
                  </a:cubicBezTo>
                  <a:cubicBezTo>
                    <a:pt x="926592" y="0"/>
                    <a:pt x="1193800" y="267208"/>
                    <a:pt x="1193800" y="596900"/>
                  </a:cubicBezTo>
                  <a:cubicBezTo>
                    <a:pt x="1193800" y="926592"/>
                    <a:pt x="926592" y="1193800"/>
                    <a:pt x="596900" y="1193800"/>
                  </a:cubicBezTo>
                  <a:cubicBezTo>
                    <a:pt x="267208" y="1193800"/>
                    <a:pt x="0" y="926592"/>
                    <a:pt x="0" y="596900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700784" y="3660800"/>
            <a:ext cx="342900" cy="342900"/>
            <a:chOff x="0" y="0"/>
            <a:chExt cx="457200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792578" y="3025673"/>
            <a:ext cx="14016380" cy="1080440"/>
            <a:chOff x="0" y="0"/>
            <a:chExt cx="18688507" cy="14405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688507" cy="1440586"/>
            </a:xfrm>
            <a:custGeom>
              <a:avLst/>
              <a:gdLst/>
              <a:ahLst/>
              <a:cxnLst/>
              <a:rect r="r" b="b" t="t" l="l"/>
              <a:pathLst>
                <a:path h="1440586" w="18688507">
                  <a:moveTo>
                    <a:pt x="0" y="0"/>
                  </a:moveTo>
                  <a:lnTo>
                    <a:pt x="18688507" y="0"/>
                  </a:lnTo>
                  <a:lnTo>
                    <a:pt x="18688507" y="1440586"/>
                  </a:lnTo>
                  <a:lnTo>
                    <a:pt x="0" y="14405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170" r="0" b="-2003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8688507" cy="1469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Describe the technologies, methodologies, or tools you plan to use to implement your idea.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690470" y="4100246"/>
            <a:ext cx="14220596" cy="3549625"/>
            <a:chOff x="0" y="0"/>
            <a:chExt cx="18960795" cy="47328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960720" cy="4732740"/>
            </a:xfrm>
            <a:custGeom>
              <a:avLst/>
              <a:gdLst/>
              <a:ahLst/>
              <a:cxnLst/>
              <a:rect r="r" b="b" t="t" l="l"/>
              <a:pathLst>
                <a:path h="4732740" w="18960720">
                  <a:moveTo>
                    <a:pt x="0" y="202345"/>
                  </a:moveTo>
                  <a:cubicBezTo>
                    <a:pt x="0" y="90682"/>
                    <a:pt x="49403" y="0"/>
                    <a:pt x="110236" y="0"/>
                  </a:cubicBezTo>
                  <a:lnTo>
                    <a:pt x="18850483" y="0"/>
                  </a:lnTo>
                  <a:cubicBezTo>
                    <a:pt x="18911444" y="0"/>
                    <a:pt x="18960720" y="90682"/>
                    <a:pt x="18960720" y="202345"/>
                  </a:cubicBezTo>
                  <a:lnTo>
                    <a:pt x="18960720" y="4530394"/>
                  </a:lnTo>
                  <a:cubicBezTo>
                    <a:pt x="18960720" y="4642290"/>
                    <a:pt x="18911317" y="4732740"/>
                    <a:pt x="18850483" y="4732740"/>
                  </a:cubicBezTo>
                  <a:lnTo>
                    <a:pt x="110236" y="4732740"/>
                  </a:lnTo>
                  <a:cubicBezTo>
                    <a:pt x="49276" y="4732740"/>
                    <a:pt x="0" y="4642057"/>
                    <a:pt x="0" y="4530394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792578" y="4280611"/>
            <a:ext cx="3050438" cy="286664"/>
            <a:chOff x="0" y="0"/>
            <a:chExt cx="4067251" cy="3822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67252" cy="382220"/>
            </a:xfrm>
            <a:custGeom>
              <a:avLst/>
              <a:gdLst/>
              <a:ahLst/>
              <a:cxnLst/>
              <a:rect r="r" b="b" t="t" l="l"/>
              <a:pathLst>
                <a:path h="382220" w="4067252">
                  <a:moveTo>
                    <a:pt x="0" y="0"/>
                  </a:moveTo>
                  <a:lnTo>
                    <a:pt x="4067252" y="0"/>
                  </a:lnTo>
                  <a:lnTo>
                    <a:pt x="4067252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7342" r="0" b="-15734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067251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9CA3A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 STRATEGY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754173" y="4512278"/>
            <a:ext cx="13123469" cy="6980034"/>
            <a:chOff x="0" y="0"/>
            <a:chExt cx="17497958" cy="93067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497958" cy="9306709"/>
            </a:xfrm>
            <a:custGeom>
              <a:avLst/>
              <a:gdLst/>
              <a:ahLst/>
              <a:cxnLst/>
              <a:rect r="r" b="b" t="t" l="l"/>
              <a:pathLst>
                <a:path h="9306709" w="17497958">
                  <a:moveTo>
                    <a:pt x="0" y="0"/>
                  </a:moveTo>
                  <a:lnTo>
                    <a:pt x="17497958" y="0"/>
                  </a:lnTo>
                  <a:lnTo>
                    <a:pt x="17497958" y="9306709"/>
                  </a:lnTo>
                  <a:lnTo>
                    <a:pt x="0" y="930670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201" r="0" b="579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7497958" cy="9325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Algorithms : Multi-scale affine ZNCC matching, Gaussian center-bias prior, and 2D parabolic Taylor sub-pixel interpolation.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Core Engine : Pure Python with NumPy and OpenCV for deterministic, vector-accelerated matrix operations.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Interactive Metrology UI : React 18, TypeScript, Tailwind CSS, Lucide Icons, and Canvas API for live inspection.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Synthetic SEM Simulator : Procedural DRAM/FinFET generator modeling Poisson noise, astigmatism blur, and charging scanlines.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Fab Feasibility : Ultra-low CPU compute footprint (~1.26s/pair) directly compatible with existing fab tool controllers without GPUs.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86561" y="7821320"/>
            <a:ext cx="4962296" cy="1893722"/>
            <a:chOff x="0" y="0"/>
            <a:chExt cx="6616395" cy="25249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6319" cy="2524895"/>
            </a:xfrm>
            <a:custGeom>
              <a:avLst/>
              <a:gdLst/>
              <a:ahLst/>
              <a:cxnLst/>
              <a:rect r="r" b="b" t="t" l="l"/>
              <a:pathLst>
                <a:path h="2524895" w="6616319">
                  <a:moveTo>
                    <a:pt x="0" y="201795"/>
                  </a:moveTo>
                  <a:cubicBezTo>
                    <a:pt x="0" y="90308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90308"/>
                    <a:pt x="6616319" y="201795"/>
                  </a:cubicBezTo>
                  <a:lnTo>
                    <a:pt x="6616319" y="2323100"/>
                  </a:lnTo>
                  <a:cubicBezTo>
                    <a:pt x="6616319" y="2434587"/>
                    <a:pt x="6548628" y="2524895"/>
                    <a:pt x="6465062" y="2524895"/>
                  </a:cubicBezTo>
                  <a:lnTo>
                    <a:pt x="151257" y="2524895"/>
                  </a:lnTo>
                  <a:cubicBezTo>
                    <a:pt x="67691" y="2524895"/>
                    <a:pt x="0" y="2434587"/>
                    <a:pt x="0" y="2323100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074" y="8002295"/>
            <a:ext cx="385420" cy="342900"/>
            <a:chOff x="0" y="0"/>
            <a:chExt cx="513893" cy="4572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13842" cy="457200"/>
            </a:xfrm>
            <a:custGeom>
              <a:avLst/>
              <a:gdLst/>
              <a:ahLst/>
              <a:cxnLst/>
              <a:rect r="r" b="b" t="t" l="l"/>
              <a:pathLst>
                <a:path h="457200" w="513842">
                  <a:moveTo>
                    <a:pt x="0" y="0"/>
                  </a:moveTo>
                  <a:lnTo>
                    <a:pt x="513842" y="0"/>
                  </a:lnTo>
                  <a:lnTo>
                    <a:pt x="513842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44" r="-9" b="-402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236394" y="8002295"/>
            <a:ext cx="2412644" cy="286664"/>
            <a:chOff x="0" y="0"/>
            <a:chExt cx="3216859" cy="3822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16860" cy="382220"/>
            </a:xfrm>
            <a:custGeom>
              <a:avLst/>
              <a:gdLst/>
              <a:ahLst/>
              <a:cxnLst/>
              <a:rect r="r" b="b" t="t" l="l"/>
              <a:pathLst>
                <a:path h="382220" w="3216860">
                  <a:moveTo>
                    <a:pt x="0" y="0"/>
                  </a:moveTo>
                  <a:lnTo>
                    <a:pt x="3216860" y="0"/>
                  </a:lnTo>
                  <a:lnTo>
                    <a:pt x="3216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3991" r="0" b="-1139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2168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Software Architecture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91859" y="7821320"/>
            <a:ext cx="4962296" cy="1893722"/>
            <a:chOff x="0" y="0"/>
            <a:chExt cx="6616395" cy="25249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16319" cy="2524895"/>
            </a:xfrm>
            <a:custGeom>
              <a:avLst/>
              <a:gdLst/>
              <a:ahLst/>
              <a:cxnLst/>
              <a:rect r="r" b="b" t="t" l="l"/>
              <a:pathLst>
                <a:path h="2524895" w="6616319">
                  <a:moveTo>
                    <a:pt x="0" y="201795"/>
                  </a:moveTo>
                  <a:cubicBezTo>
                    <a:pt x="0" y="90308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90308"/>
                    <a:pt x="6616319" y="201795"/>
                  </a:cubicBezTo>
                  <a:lnTo>
                    <a:pt x="6616319" y="2323100"/>
                  </a:lnTo>
                  <a:cubicBezTo>
                    <a:pt x="6616319" y="2434587"/>
                    <a:pt x="6548628" y="2524895"/>
                    <a:pt x="6465062" y="2524895"/>
                  </a:cubicBezTo>
                  <a:lnTo>
                    <a:pt x="151257" y="2524895"/>
                  </a:lnTo>
                  <a:cubicBezTo>
                    <a:pt x="67691" y="2524895"/>
                    <a:pt x="0" y="2434587"/>
                    <a:pt x="0" y="2323100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783248" y="7974178"/>
            <a:ext cx="342900" cy="342900"/>
            <a:chOff x="0" y="0"/>
            <a:chExt cx="457200" cy="45720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659548" y="8002295"/>
            <a:ext cx="2584094" cy="286664"/>
            <a:chOff x="0" y="0"/>
            <a:chExt cx="3445459" cy="3822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45460" cy="382220"/>
            </a:xfrm>
            <a:custGeom>
              <a:avLst/>
              <a:gdLst/>
              <a:ahLst/>
              <a:cxnLst/>
              <a:rect r="r" b="b" t="t" l="l"/>
              <a:pathLst>
                <a:path h="382220" w="3445460">
                  <a:moveTo>
                    <a:pt x="0" y="0"/>
                  </a:moveTo>
                  <a:lnTo>
                    <a:pt x="3445460" y="0"/>
                  </a:lnTo>
                  <a:lnTo>
                    <a:pt x="34454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5644" r="0" b="-12564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4454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Hardware Components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720398" y="7821320"/>
            <a:ext cx="4962296" cy="1893722"/>
            <a:chOff x="0" y="0"/>
            <a:chExt cx="6616395" cy="252496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16319" cy="2524895"/>
            </a:xfrm>
            <a:custGeom>
              <a:avLst/>
              <a:gdLst/>
              <a:ahLst/>
              <a:cxnLst/>
              <a:rect r="r" b="b" t="t" l="l"/>
              <a:pathLst>
                <a:path h="2524895" w="6616319">
                  <a:moveTo>
                    <a:pt x="0" y="201795"/>
                  </a:moveTo>
                  <a:cubicBezTo>
                    <a:pt x="0" y="90308"/>
                    <a:pt x="67691" y="0"/>
                    <a:pt x="151257" y="0"/>
                  </a:cubicBezTo>
                  <a:lnTo>
                    <a:pt x="6465062" y="0"/>
                  </a:lnTo>
                  <a:cubicBezTo>
                    <a:pt x="6548628" y="0"/>
                    <a:pt x="6616319" y="90308"/>
                    <a:pt x="6616319" y="201795"/>
                  </a:cubicBezTo>
                  <a:lnTo>
                    <a:pt x="6616319" y="2323100"/>
                  </a:lnTo>
                  <a:cubicBezTo>
                    <a:pt x="6616319" y="2434587"/>
                    <a:pt x="6548628" y="2524895"/>
                    <a:pt x="6465062" y="2524895"/>
                  </a:cubicBezTo>
                  <a:lnTo>
                    <a:pt x="151257" y="2524895"/>
                  </a:lnTo>
                  <a:cubicBezTo>
                    <a:pt x="67691" y="2524895"/>
                    <a:pt x="0" y="2434587"/>
                    <a:pt x="0" y="2323100"/>
                  </a:cubicBezTo>
                  <a:close/>
                </a:path>
              </a:pathLst>
            </a:custGeom>
            <a:solidFill>
              <a:srgbClr val="273383">
                <a:alpha val="15686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1987555" y="8002295"/>
            <a:ext cx="342900" cy="342900"/>
            <a:chOff x="0" y="0"/>
            <a:chExt cx="457200" cy="4572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863855" y="7974178"/>
            <a:ext cx="2154784" cy="286664"/>
            <a:chOff x="0" y="0"/>
            <a:chExt cx="2873045" cy="38221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873044" cy="382220"/>
            </a:xfrm>
            <a:custGeom>
              <a:avLst/>
              <a:gdLst/>
              <a:ahLst/>
              <a:cxnLst/>
              <a:rect r="r" b="b" t="t" l="l"/>
              <a:pathLst>
                <a:path h="382220" w="2873044">
                  <a:moveTo>
                    <a:pt x="0" y="0"/>
                  </a:moveTo>
                  <a:lnTo>
                    <a:pt x="2873044" y="0"/>
                  </a:lnTo>
                  <a:lnTo>
                    <a:pt x="2873044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463" r="0" b="-9646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2873045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Poppins"/>
                  <a:ea typeface="Poppins"/>
                  <a:cs typeface="Poppins"/>
                  <a:sym typeface="Poppins"/>
                </a:rPr>
                <a:t>Development Tools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017116" y="342900"/>
            <a:ext cx="2411054" cy="1175385"/>
            <a:chOff x="0" y="0"/>
            <a:chExt cx="3214738" cy="15671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57250" y="361188"/>
            <a:ext cx="16573043" cy="1286561"/>
            <a:chOff x="0" y="0"/>
            <a:chExt cx="22097390" cy="171541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271151" y="567309"/>
            <a:ext cx="13745232" cy="879653"/>
            <a:chOff x="0" y="0"/>
            <a:chExt cx="18326976" cy="11728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" r="0" b="-4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597138" y="8375015"/>
            <a:ext cx="4020968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Modular Python metrology pipeline + REST / WebSocket API + Modern React/TypeScript frontend dashboard.</a:t>
            </a:r>
          </a:p>
          <a:p>
            <a:pPr algn="l">
              <a:lnSpc>
                <a:spcPts val="2279"/>
              </a:lnSpc>
              <a:spcBef>
                <a:spcPct val="0"/>
              </a:spcBef>
            </a:pPr>
          </a:p>
        </p:txBody>
      </p:sp>
      <p:sp>
        <p:nvSpPr>
          <p:cNvPr name="TextBox 80" id="80"/>
          <p:cNvSpPr txBox="true"/>
          <p:nvPr/>
        </p:nvSpPr>
        <p:spPr>
          <a:xfrm rot="0">
            <a:off x="6783248" y="8375015"/>
            <a:ext cx="42178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7"/>
              </a:lnSpc>
            </a:pPr>
            <a:r>
              <a:rPr lang="en-US" sz="17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Standard x86_64 Industrial Workstation / IPC (Zero GPU required; minimal memory and compute footprint).</a:t>
            </a:r>
          </a:p>
          <a:p>
            <a:pPr algn="just">
              <a:lnSpc>
                <a:spcPts val="1696"/>
              </a:lnSpc>
              <a:spcBef>
                <a:spcPct val="0"/>
              </a:spcBef>
            </a:pPr>
          </a:p>
        </p:txBody>
      </p:sp>
      <p:sp>
        <p:nvSpPr>
          <p:cNvPr name="TextBox 81" id="81"/>
          <p:cNvSpPr txBox="true"/>
          <p:nvPr/>
        </p:nvSpPr>
        <p:spPr>
          <a:xfrm rot="0">
            <a:off x="12159005" y="8451215"/>
            <a:ext cx="421785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6"/>
              </a:lnSpc>
            </a:pPr>
            <a:r>
              <a:rPr lang="en-US" sz="19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Python 3.10+, OpenCV, NumPy, SciPy, Vite, Node.js, Tailwind CSS, Git.</a:t>
            </a:r>
          </a:p>
          <a:p>
            <a:pPr algn="just">
              <a:lnSpc>
                <a:spcPts val="22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943557"/>
            <a:ext cx="5406847" cy="700888"/>
            <a:chOff x="0" y="0"/>
            <a:chExt cx="7209130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9130" cy="934516"/>
            </a:xfrm>
            <a:custGeom>
              <a:avLst/>
              <a:gdLst/>
              <a:ahLst/>
              <a:cxnLst/>
              <a:rect r="r" b="b" t="t" l="l"/>
              <a:pathLst>
                <a:path h="934516" w="7209130">
                  <a:moveTo>
                    <a:pt x="0" y="0"/>
                  </a:moveTo>
                  <a:lnTo>
                    <a:pt x="7209130" y="0"/>
                  </a:lnTo>
                  <a:lnTo>
                    <a:pt x="7209130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209130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&amp; Video Link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023083"/>
            <a:ext cx="16592093" cy="6848246"/>
            <a:chOff x="0" y="0"/>
            <a:chExt cx="22122790" cy="91309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764" cy="9130919"/>
            </a:xfrm>
            <a:custGeom>
              <a:avLst/>
              <a:gdLst/>
              <a:ahLst/>
              <a:cxnLst/>
              <a:rect r="r" b="b" t="t" l="l"/>
              <a:pathLst>
                <a:path h="9130919" w="22122764">
                  <a:moveTo>
                    <a:pt x="0" y="61341"/>
                  </a:moveTo>
                  <a:cubicBezTo>
                    <a:pt x="0" y="27432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7432"/>
                    <a:pt x="22122764" y="61341"/>
                  </a:cubicBezTo>
                  <a:lnTo>
                    <a:pt x="22122764" y="9069578"/>
                  </a:lnTo>
                  <a:cubicBezTo>
                    <a:pt x="22122764" y="9103487"/>
                    <a:pt x="22095333" y="9130919"/>
                    <a:pt x="22061424" y="9130919"/>
                  </a:cubicBezTo>
                  <a:lnTo>
                    <a:pt x="61341" y="9130919"/>
                  </a:lnTo>
                  <a:cubicBezTo>
                    <a:pt x="27432" y="9130919"/>
                    <a:pt x="0" y="9103487"/>
                    <a:pt x="0" y="90695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300403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300403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776298" y="4035323"/>
            <a:ext cx="14734946" cy="2190293"/>
            <a:chOff x="0" y="0"/>
            <a:chExt cx="19646595" cy="29203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646646" cy="2920365"/>
            </a:xfrm>
            <a:custGeom>
              <a:avLst/>
              <a:gdLst/>
              <a:ahLst/>
              <a:cxnLst/>
              <a:rect r="r" b="b" t="t" l="l"/>
              <a:pathLst>
                <a:path h="2920365" w="19646646">
                  <a:moveTo>
                    <a:pt x="0" y="145669"/>
                  </a:moveTo>
                  <a:cubicBezTo>
                    <a:pt x="0" y="65151"/>
                    <a:pt x="65151" y="0"/>
                    <a:pt x="145669" y="0"/>
                  </a:cubicBezTo>
                  <a:lnTo>
                    <a:pt x="19500977" y="0"/>
                  </a:lnTo>
                  <a:cubicBezTo>
                    <a:pt x="19581368" y="0"/>
                    <a:pt x="19646646" y="65151"/>
                    <a:pt x="19646646" y="145669"/>
                  </a:cubicBezTo>
                  <a:lnTo>
                    <a:pt x="19646646" y="2774696"/>
                  </a:lnTo>
                  <a:cubicBezTo>
                    <a:pt x="19646646" y="2855087"/>
                    <a:pt x="19581495" y="2920365"/>
                    <a:pt x="19500977" y="2920365"/>
                  </a:cubicBezTo>
                  <a:lnTo>
                    <a:pt x="145669" y="2920365"/>
                  </a:lnTo>
                  <a:cubicBezTo>
                    <a:pt x="65151" y="2920365"/>
                    <a:pt x="0" y="2855214"/>
                    <a:pt x="0" y="277469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084" r="0" b="-81084"/>
              </a:stretch>
            </a:blip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124761" y="4611472"/>
            <a:ext cx="1037996" cy="1037996"/>
            <a:chOff x="0" y="0"/>
            <a:chExt cx="1383995" cy="13839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4046" cy="1384046"/>
            </a:xfrm>
            <a:custGeom>
              <a:avLst/>
              <a:gdLst/>
              <a:ahLst/>
              <a:cxnLst/>
              <a:rect r="r" b="b" t="t" l="l"/>
              <a:pathLst>
                <a:path h="1384046" w="1384046">
                  <a:moveTo>
                    <a:pt x="0" y="692023"/>
                  </a:moveTo>
                  <a:cubicBezTo>
                    <a:pt x="0" y="309880"/>
                    <a:pt x="309880" y="0"/>
                    <a:pt x="692023" y="0"/>
                  </a:cubicBezTo>
                  <a:cubicBezTo>
                    <a:pt x="1074166" y="0"/>
                    <a:pt x="1384046" y="309880"/>
                    <a:pt x="1384046" y="692023"/>
                  </a:cubicBezTo>
                  <a:cubicBezTo>
                    <a:pt x="1384046" y="1074166"/>
                    <a:pt x="1074166" y="1384046"/>
                    <a:pt x="692023" y="1384046"/>
                  </a:cubicBezTo>
                  <a:cubicBezTo>
                    <a:pt x="309880" y="1384046"/>
                    <a:pt x="0" y="1074166"/>
                    <a:pt x="0" y="692023"/>
                  </a:cubicBezTo>
                  <a:close/>
                </a:path>
              </a:pathLst>
            </a:custGeom>
            <a:solidFill>
              <a:srgbClr val="273383">
                <a:alpha val="3568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393442" y="4873295"/>
            <a:ext cx="500634" cy="514350"/>
            <a:chOff x="0" y="0"/>
            <a:chExt cx="667512" cy="6858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67512" cy="685800"/>
            </a:xfrm>
            <a:custGeom>
              <a:avLst/>
              <a:gdLst/>
              <a:ahLst/>
              <a:cxnLst/>
              <a:rect r="r" b="b" t="t" l="l"/>
              <a:pathLst>
                <a:path h="685800" w="667512">
                  <a:moveTo>
                    <a:pt x="0" y="0"/>
                  </a:moveTo>
                  <a:lnTo>
                    <a:pt x="667512" y="0"/>
                  </a:lnTo>
                  <a:lnTo>
                    <a:pt x="66751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37" t="0" r="-24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00450" y="4401464"/>
            <a:ext cx="3001061" cy="400507"/>
            <a:chOff x="0" y="0"/>
            <a:chExt cx="4001414" cy="5340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01414" cy="534010"/>
            </a:xfrm>
            <a:custGeom>
              <a:avLst/>
              <a:gdLst/>
              <a:ahLst/>
              <a:cxnLst/>
              <a:rect r="r" b="b" t="t" l="l"/>
              <a:pathLst>
                <a:path h="534010" w="4001414">
                  <a:moveTo>
                    <a:pt x="0" y="0"/>
                  </a:moveTo>
                  <a:lnTo>
                    <a:pt x="4001414" y="0"/>
                  </a:lnTo>
                  <a:lnTo>
                    <a:pt x="4001414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004" r="0" b="-9600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001414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Repository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590925" y="4963897"/>
            <a:ext cx="12563704" cy="905104"/>
            <a:chOff x="0" y="0"/>
            <a:chExt cx="16751605" cy="12068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51554" cy="1206754"/>
            </a:xfrm>
            <a:custGeom>
              <a:avLst/>
              <a:gdLst/>
              <a:ahLst/>
              <a:cxnLst/>
              <a:rect r="r" b="b" t="t" l="l"/>
              <a:pathLst>
                <a:path h="1206754" w="16751554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lnTo>
                    <a:pt x="16510508" y="0"/>
                  </a:lnTo>
                  <a:cubicBezTo>
                    <a:pt x="16643604" y="0"/>
                    <a:pt x="16751554" y="107950"/>
                    <a:pt x="16751554" y="241046"/>
                  </a:cubicBezTo>
                  <a:lnTo>
                    <a:pt x="16751554" y="965708"/>
                  </a:lnTo>
                  <a:cubicBezTo>
                    <a:pt x="16751554" y="1098804"/>
                    <a:pt x="16643604" y="1206754"/>
                    <a:pt x="16510508" y="1206754"/>
                  </a:cubicBezTo>
                  <a:lnTo>
                    <a:pt x="241046" y="1206754"/>
                  </a:lnTo>
                  <a:cubicBezTo>
                    <a:pt x="107950" y="1206754"/>
                    <a:pt x="0" y="1098931"/>
                    <a:pt x="0" y="965708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4B556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3843223" y="5302606"/>
            <a:ext cx="285293" cy="229057"/>
            <a:chOff x="0" y="0"/>
            <a:chExt cx="380390" cy="30541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80365" cy="305435"/>
            </a:xfrm>
            <a:custGeom>
              <a:avLst/>
              <a:gdLst/>
              <a:ahLst/>
              <a:cxnLst/>
              <a:rect r="r" b="b" t="t" l="l"/>
              <a:pathLst>
                <a:path h="30543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178" r="-808" b="18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272534" y="5089741"/>
            <a:ext cx="5837530" cy="779259"/>
            <a:chOff x="0" y="0"/>
            <a:chExt cx="7783373" cy="10390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783372" cy="1039011"/>
            </a:xfrm>
            <a:custGeom>
              <a:avLst/>
              <a:gdLst/>
              <a:ahLst/>
              <a:cxnLst/>
              <a:rect r="r" b="b" t="t" l="l"/>
              <a:pathLst>
                <a:path h="1039011" w="7783372">
                  <a:moveTo>
                    <a:pt x="0" y="0"/>
                  </a:moveTo>
                  <a:lnTo>
                    <a:pt x="7783372" y="0"/>
                  </a:lnTo>
                  <a:lnTo>
                    <a:pt x="7783372" y="1039011"/>
                  </a:lnTo>
                  <a:lnTo>
                    <a:pt x="0" y="10390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995" r="0" b="-689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783373" cy="1058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 u="sng">
                  <a:solidFill>
                    <a:srgbClr val="D1D5DB"/>
                  </a:solidFill>
                  <a:latin typeface="Poppins Italics"/>
                  <a:ea typeface="Poppins Italics"/>
                  <a:cs typeface="Poppins Italics"/>
                  <a:sym typeface="Poppins Italics"/>
                  <a:hlinkClick r:id="rId9" tooltip="https://github.com/Harini7878/SEMICON-India-2026"/>
                </a:rPr>
                <a:t>https://github.com/Harini7878/SEMICON-India-2026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76298" y="6664681"/>
            <a:ext cx="14734946" cy="2190293"/>
            <a:chOff x="0" y="0"/>
            <a:chExt cx="19646595" cy="29203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646646" cy="2920365"/>
            </a:xfrm>
            <a:custGeom>
              <a:avLst/>
              <a:gdLst/>
              <a:ahLst/>
              <a:cxnLst/>
              <a:rect r="r" b="b" t="t" l="l"/>
              <a:pathLst>
                <a:path h="2920365" w="19646646">
                  <a:moveTo>
                    <a:pt x="0" y="145669"/>
                  </a:moveTo>
                  <a:cubicBezTo>
                    <a:pt x="0" y="65151"/>
                    <a:pt x="65151" y="0"/>
                    <a:pt x="145669" y="0"/>
                  </a:cubicBezTo>
                  <a:lnTo>
                    <a:pt x="19500977" y="0"/>
                  </a:lnTo>
                  <a:cubicBezTo>
                    <a:pt x="19581368" y="0"/>
                    <a:pt x="19646646" y="65151"/>
                    <a:pt x="19646646" y="145669"/>
                  </a:cubicBezTo>
                  <a:lnTo>
                    <a:pt x="19646646" y="2774696"/>
                  </a:lnTo>
                  <a:cubicBezTo>
                    <a:pt x="19646646" y="2855087"/>
                    <a:pt x="19581495" y="2920365"/>
                    <a:pt x="19500977" y="2920365"/>
                  </a:cubicBezTo>
                  <a:lnTo>
                    <a:pt x="145669" y="2920365"/>
                  </a:lnTo>
                  <a:cubicBezTo>
                    <a:pt x="65151" y="2920365"/>
                    <a:pt x="0" y="2855214"/>
                    <a:pt x="0" y="277469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084" r="0" b="-81084"/>
              </a:stretch>
            </a:blip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2124761" y="7240829"/>
            <a:ext cx="1037996" cy="1037996"/>
            <a:chOff x="0" y="0"/>
            <a:chExt cx="1383995" cy="138399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84046" cy="1384046"/>
            </a:xfrm>
            <a:custGeom>
              <a:avLst/>
              <a:gdLst/>
              <a:ahLst/>
              <a:cxnLst/>
              <a:rect r="r" b="b" t="t" l="l"/>
              <a:pathLst>
                <a:path h="1384046" w="1384046">
                  <a:moveTo>
                    <a:pt x="0" y="692023"/>
                  </a:moveTo>
                  <a:cubicBezTo>
                    <a:pt x="0" y="309880"/>
                    <a:pt x="309880" y="0"/>
                    <a:pt x="692023" y="0"/>
                  </a:cubicBezTo>
                  <a:cubicBezTo>
                    <a:pt x="1074166" y="0"/>
                    <a:pt x="1384046" y="309880"/>
                    <a:pt x="1384046" y="692023"/>
                  </a:cubicBezTo>
                  <a:cubicBezTo>
                    <a:pt x="1384046" y="1074166"/>
                    <a:pt x="1074166" y="1384046"/>
                    <a:pt x="692023" y="1384046"/>
                  </a:cubicBezTo>
                  <a:cubicBezTo>
                    <a:pt x="309880" y="1384046"/>
                    <a:pt x="0" y="1074166"/>
                    <a:pt x="0" y="692023"/>
                  </a:cubicBezTo>
                  <a:close/>
                </a:path>
              </a:pathLst>
            </a:custGeom>
            <a:solidFill>
              <a:srgbClr val="273383">
                <a:alpha val="3568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350922" y="7502652"/>
            <a:ext cx="585673" cy="514350"/>
            <a:chOff x="0" y="0"/>
            <a:chExt cx="780898" cy="6858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780923" cy="685800"/>
            </a:xfrm>
            <a:custGeom>
              <a:avLst/>
              <a:gdLst/>
              <a:ahLst/>
              <a:cxnLst/>
              <a:rect r="r" b="b" t="t" l="l"/>
              <a:pathLst>
                <a:path h="685800" w="780923">
                  <a:moveTo>
                    <a:pt x="0" y="0"/>
                  </a:moveTo>
                  <a:lnTo>
                    <a:pt x="780923" y="0"/>
                  </a:lnTo>
                  <a:lnTo>
                    <a:pt x="780923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600" t="0" r="601" b="-196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600450" y="7030822"/>
            <a:ext cx="4629150" cy="400507"/>
            <a:chOff x="0" y="0"/>
            <a:chExt cx="6172200" cy="5340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172200" cy="534010"/>
            </a:xfrm>
            <a:custGeom>
              <a:avLst/>
              <a:gdLst/>
              <a:ahLst/>
              <a:cxnLst/>
              <a:rect r="r" b="b" t="t" l="l"/>
              <a:pathLst>
                <a:path h="53401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5212" r="0" b="-1752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6172200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Prototype / Simulation Video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590925" y="7593254"/>
            <a:ext cx="12563704" cy="905104"/>
            <a:chOff x="0" y="0"/>
            <a:chExt cx="16751605" cy="120680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751554" cy="1206754"/>
            </a:xfrm>
            <a:custGeom>
              <a:avLst/>
              <a:gdLst/>
              <a:ahLst/>
              <a:cxnLst/>
              <a:rect r="r" b="b" t="t" l="l"/>
              <a:pathLst>
                <a:path h="1206754" w="16751554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lnTo>
                    <a:pt x="16510508" y="0"/>
                  </a:lnTo>
                  <a:cubicBezTo>
                    <a:pt x="16643604" y="0"/>
                    <a:pt x="16751554" y="107950"/>
                    <a:pt x="16751554" y="241046"/>
                  </a:cubicBezTo>
                  <a:lnTo>
                    <a:pt x="16751554" y="965708"/>
                  </a:lnTo>
                  <a:cubicBezTo>
                    <a:pt x="16751554" y="1098804"/>
                    <a:pt x="16643604" y="1206754"/>
                    <a:pt x="16510508" y="1206754"/>
                  </a:cubicBezTo>
                  <a:lnTo>
                    <a:pt x="241046" y="1206754"/>
                  </a:lnTo>
                  <a:cubicBezTo>
                    <a:pt x="107950" y="1206754"/>
                    <a:pt x="0" y="1098931"/>
                    <a:pt x="0" y="965708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4B556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3843223" y="7930591"/>
            <a:ext cx="257861" cy="229057"/>
            <a:chOff x="0" y="0"/>
            <a:chExt cx="343814" cy="30541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343789" cy="305435"/>
            </a:xfrm>
            <a:custGeom>
              <a:avLst/>
              <a:gdLst/>
              <a:ahLst/>
              <a:cxnLst/>
              <a:rect r="r" b="b" t="t" l="l"/>
              <a:pathLst>
                <a:path h="305435" w="343789">
                  <a:moveTo>
                    <a:pt x="0" y="0"/>
                  </a:moveTo>
                  <a:lnTo>
                    <a:pt x="343789" y="0"/>
                  </a:lnTo>
                  <a:lnTo>
                    <a:pt x="343789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33" t="0" r="25" b="-436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272534" y="7859268"/>
            <a:ext cx="9079992" cy="483984"/>
            <a:chOff x="0" y="0"/>
            <a:chExt cx="12106656" cy="6453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106656" cy="645311"/>
            </a:xfrm>
            <a:custGeom>
              <a:avLst/>
              <a:gdLst/>
              <a:ahLst/>
              <a:cxnLst/>
              <a:rect r="r" b="b" t="t" l="l"/>
              <a:pathLst>
                <a:path h="645311" w="12106656">
                  <a:moveTo>
                    <a:pt x="0" y="0"/>
                  </a:moveTo>
                  <a:lnTo>
                    <a:pt x="12106656" y="0"/>
                  </a:lnTo>
                  <a:lnTo>
                    <a:pt x="12106656" y="645311"/>
                  </a:lnTo>
                  <a:lnTo>
                    <a:pt x="0" y="6453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574" r="0" b="-3025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2106656" cy="66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 u="sng">
                  <a:solidFill>
                    <a:srgbClr val="D1D5DB"/>
                  </a:solidFill>
                  <a:latin typeface="Poppins Italics"/>
                  <a:ea typeface="Poppins Italics"/>
                  <a:cs typeface="Poppins Italics"/>
                  <a:sym typeface="Poppins Italics"/>
                  <a:hlinkClick r:id="rId12" tooltip="https://canva.link/op815z0vqmlav89"/>
                </a:rPr>
                <a:t>https://canva.link/op815z0vqmlav89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7250" y="251917"/>
            <a:ext cx="16573043" cy="1286561"/>
            <a:chOff x="0" y="0"/>
            <a:chExt cx="22097390" cy="171541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271151" y="445770"/>
            <a:ext cx="13745232" cy="879653"/>
            <a:chOff x="0" y="0"/>
            <a:chExt cx="18326976" cy="117287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78582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728216"/>
            <a:ext cx="6936181" cy="700888"/>
            <a:chOff x="0" y="0"/>
            <a:chExt cx="9248242" cy="9345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48242" cy="934516"/>
            </a:xfrm>
            <a:custGeom>
              <a:avLst/>
              <a:gdLst/>
              <a:ahLst/>
              <a:cxnLst/>
              <a:rect r="r" b="b" t="t" l="l"/>
              <a:pathLst>
                <a:path h="934516" w="9248242">
                  <a:moveTo>
                    <a:pt x="0" y="0"/>
                  </a:moveTo>
                  <a:lnTo>
                    <a:pt x="9248242" y="0"/>
                  </a:lnTo>
                  <a:lnTo>
                    <a:pt x="9248242" y="934516"/>
                  </a:lnTo>
                  <a:lnTo>
                    <a:pt x="0" y="9345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2829" r="0" b="-1428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48242" cy="97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and References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736418"/>
            <a:ext cx="16592093" cy="7134911"/>
            <a:chOff x="0" y="0"/>
            <a:chExt cx="22122790" cy="95132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9513316"/>
            </a:xfrm>
            <a:custGeom>
              <a:avLst/>
              <a:gdLst/>
              <a:ahLst/>
              <a:cxnLst/>
              <a:rect r="r" b="b" t="t" l="l"/>
              <a:pathLst>
                <a:path h="9513316" w="22122892">
                  <a:moveTo>
                    <a:pt x="0" y="58928"/>
                  </a:moveTo>
                  <a:cubicBezTo>
                    <a:pt x="0" y="26416"/>
                    <a:pt x="26416" y="0"/>
                    <a:pt x="58928" y="0"/>
                  </a:cubicBezTo>
                  <a:lnTo>
                    <a:pt x="22063963" y="0"/>
                  </a:lnTo>
                  <a:cubicBezTo>
                    <a:pt x="22096476" y="0"/>
                    <a:pt x="22122892" y="26416"/>
                    <a:pt x="22122892" y="58928"/>
                  </a:cubicBezTo>
                  <a:lnTo>
                    <a:pt x="22122892" y="9454388"/>
                  </a:lnTo>
                  <a:cubicBezTo>
                    <a:pt x="22122892" y="9486900"/>
                    <a:pt x="22096476" y="9513316"/>
                    <a:pt x="22063963" y="9513316"/>
                  </a:cubicBezTo>
                  <a:lnTo>
                    <a:pt x="58928" y="9513316"/>
                  </a:lnTo>
                  <a:cubicBezTo>
                    <a:pt x="26416" y="9513189"/>
                    <a:pt x="0" y="9486900"/>
                    <a:pt x="0" y="945438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717368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717368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8675" y="9543821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23873" y="2955722"/>
            <a:ext cx="752704" cy="752704"/>
            <a:chOff x="0" y="0"/>
            <a:chExt cx="1003605" cy="10036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3554" cy="1003554"/>
            </a:xfrm>
            <a:custGeom>
              <a:avLst/>
              <a:gdLst/>
              <a:ahLst/>
              <a:cxnLst/>
              <a:rect r="r" b="b" t="t" l="l"/>
              <a:pathLst>
                <a:path h="1003554" w="1003554">
                  <a:moveTo>
                    <a:pt x="0" y="501777"/>
                  </a:moveTo>
                  <a:cubicBezTo>
                    <a:pt x="0" y="224663"/>
                    <a:pt x="224663" y="0"/>
                    <a:pt x="501777" y="0"/>
                  </a:cubicBezTo>
                  <a:cubicBezTo>
                    <a:pt x="778891" y="0"/>
                    <a:pt x="1003554" y="224663"/>
                    <a:pt x="1003554" y="501777"/>
                  </a:cubicBezTo>
                  <a:cubicBezTo>
                    <a:pt x="1003554" y="778891"/>
                    <a:pt x="778891" y="1003554"/>
                    <a:pt x="501777" y="1003554"/>
                  </a:cubicBezTo>
                  <a:cubicBezTo>
                    <a:pt x="224663" y="1003554"/>
                    <a:pt x="0" y="778891"/>
                    <a:pt x="0" y="501777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28775" y="3160624"/>
            <a:ext cx="342900" cy="342900"/>
            <a:chOff x="0" y="0"/>
            <a:chExt cx="457200" cy="4572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42820" y="3160624"/>
            <a:ext cx="5715457" cy="400507"/>
            <a:chOff x="0" y="0"/>
            <a:chExt cx="7620610" cy="5340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610" cy="534010"/>
            </a:xfrm>
            <a:custGeom>
              <a:avLst/>
              <a:gdLst/>
              <a:ahLst/>
              <a:cxnLst/>
              <a:rect r="r" b="b" t="t" l="l"/>
              <a:pathLst>
                <a:path h="534010" w="7620610">
                  <a:moveTo>
                    <a:pt x="0" y="0"/>
                  </a:moveTo>
                  <a:lnTo>
                    <a:pt x="7620610" y="0"/>
                  </a:lnTo>
                  <a:lnTo>
                    <a:pt x="7620610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8062" r="0" b="-2280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620610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Background &amp; Methodology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42820" y="3578009"/>
            <a:ext cx="8551926" cy="286664"/>
            <a:chOff x="0" y="0"/>
            <a:chExt cx="11402568" cy="3822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02568" cy="382220"/>
            </a:xfrm>
            <a:custGeom>
              <a:avLst/>
              <a:gdLst/>
              <a:ahLst/>
              <a:cxnLst/>
              <a:rect r="r" b="b" t="t" l="l"/>
              <a:pathLst>
                <a:path h="382220" w="11402568">
                  <a:moveTo>
                    <a:pt x="0" y="0"/>
                  </a:moveTo>
                  <a:lnTo>
                    <a:pt x="11402568" y="0"/>
                  </a:lnTo>
                  <a:lnTo>
                    <a:pt x="11402568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1286" r="0" b="-5312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1402568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Briefly describe the research foundation or scientific principles supporting your idea.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76577" y="3864674"/>
            <a:ext cx="14765960" cy="3023006"/>
            <a:chOff x="0" y="0"/>
            <a:chExt cx="19687946" cy="40306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687947" cy="4030700"/>
            </a:xfrm>
            <a:custGeom>
              <a:avLst/>
              <a:gdLst/>
              <a:ahLst/>
              <a:cxnLst/>
              <a:rect r="r" b="b" t="t" l="l"/>
              <a:pathLst>
                <a:path h="4030700" w="19687947">
                  <a:moveTo>
                    <a:pt x="0" y="246750"/>
                  </a:moveTo>
                  <a:cubicBezTo>
                    <a:pt x="0" y="110457"/>
                    <a:pt x="60598" y="0"/>
                    <a:pt x="135371" y="0"/>
                  </a:cubicBezTo>
                  <a:lnTo>
                    <a:pt x="19552576" y="0"/>
                  </a:lnTo>
                  <a:cubicBezTo>
                    <a:pt x="19627348" y="0"/>
                    <a:pt x="19687947" y="110457"/>
                    <a:pt x="19687947" y="246750"/>
                  </a:cubicBezTo>
                  <a:lnTo>
                    <a:pt x="19687947" y="3783973"/>
                  </a:lnTo>
                  <a:cubicBezTo>
                    <a:pt x="19687947" y="3920266"/>
                    <a:pt x="19627348" y="4030700"/>
                    <a:pt x="19552576" y="4030700"/>
                  </a:cubicBezTo>
                  <a:lnTo>
                    <a:pt x="135371" y="4030700"/>
                  </a:lnTo>
                  <a:cubicBezTo>
                    <a:pt x="60598" y="4030700"/>
                    <a:pt x="0" y="3920266"/>
                    <a:pt x="0" y="3783973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2326747" y="3977488"/>
            <a:ext cx="14465620" cy="3107893"/>
            <a:chOff x="0" y="0"/>
            <a:chExt cx="19287493" cy="414385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87492" cy="4143858"/>
            </a:xfrm>
            <a:custGeom>
              <a:avLst/>
              <a:gdLst/>
              <a:ahLst/>
              <a:cxnLst/>
              <a:rect r="r" b="b" t="t" l="l"/>
              <a:pathLst>
                <a:path h="4143858" w="19287492">
                  <a:moveTo>
                    <a:pt x="0" y="0"/>
                  </a:moveTo>
                  <a:lnTo>
                    <a:pt x="19287492" y="0"/>
                  </a:lnTo>
                  <a:lnTo>
                    <a:pt x="19287492" y="4143858"/>
                  </a:lnTo>
                  <a:lnTo>
                    <a:pt x="0" y="4143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841" r="42511" b="4256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9287493" cy="4162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Statistical Normalized Cross-Correlation (NCC): Leverages ZNCC theory for contrast- and illumination-invariant template matching under low electron dose. 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Gaussian Spatial Prior Theory: Models mechanical stage landing error as a normal distribution to suppress false peaks in periodic DRAM arrays.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 • 2D Taylor Surface Interpolation: Fits continuous quadratic paraboloids over discrete discrete correlation maxima to break the 1-pixel Nyquist barrier. 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SEM Electron Interaction Physics: Grounds validation on Monte Carlo/Poisson electron scattering models, astigmatism blur, and scanline charging physics. </a:t>
              </a:r>
            </a:p>
            <a:p>
              <a:pPr algn="just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• Deterministic Non-Parametric Framework: Bypasses neural hallucination vulnerabilities, guaranteeing mathematical reproducibility for metrology certification.</a:t>
              </a:r>
            </a:p>
            <a:p>
              <a:pPr algn="just">
                <a:lnSpc>
                  <a:spcPts val="21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23873" y="6771284"/>
            <a:ext cx="752704" cy="752704"/>
            <a:chOff x="0" y="0"/>
            <a:chExt cx="1003605" cy="100360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3554" cy="1003554"/>
            </a:xfrm>
            <a:custGeom>
              <a:avLst/>
              <a:gdLst/>
              <a:ahLst/>
              <a:cxnLst/>
              <a:rect r="r" b="b" t="t" l="l"/>
              <a:pathLst>
                <a:path h="1003554" w="1003554">
                  <a:moveTo>
                    <a:pt x="0" y="501777"/>
                  </a:moveTo>
                  <a:cubicBezTo>
                    <a:pt x="0" y="224663"/>
                    <a:pt x="224663" y="0"/>
                    <a:pt x="501777" y="0"/>
                  </a:cubicBezTo>
                  <a:cubicBezTo>
                    <a:pt x="778891" y="0"/>
                    <a:pt x="1003554" y="224663"/>
                    <a:pt x="1003554" y="501777"/>
                  </a:cubicBezTo>
                  <a:cubicBezTo>
                    <a:pt x="1003554" y="778891"/>
                    <a:pt x="778891" y="1003554"/>
                    <a:pt x="501777" y="1003554"/>
                  </a:cubicBezTo>
                  <a:cubicBezTo>
                    <a:pt x="224663" y="1003554"/>
                    <a:pt x="0" y="778891"/>
                    <a:pt x="0" y="501777"/>
                  </a:cubicBezTo>
                  <a:close/>
                </a:path>
              </a:pathLst>
            </a:custGeom>
            <a:solidFill>
              <a:srgbClr val="273383">
                <a:alpha val="2470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85570" y="6935534"/>
            <a:ext cx="429311" cy="342900"/>
            <a:chOff x="0" y="0"/>
            <a:chExt cx="572414" cy="4572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72389" cy="457200"/>
            </a:xfrm>
            <a:custGeom>
              <a:avLst/>
              <a:gdLst/>
              <a:ahLst/>
              <a:cxnLst/>
              <a:rect r="r" b="b" t="t" l="l"/>
              <a:pathLst>
                <a:path h="457200" w="572389">
                  <a:moveTo>
                    <a:pt x="0" y="0"/>
                  </a:moveTo>
                  <a:lnTo>
                    <a:pt x="572389" y="0"/>
                  </a:lnTo>
                  <a:lnTo>
                    <a:pt x="57238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79" t="0" r="-19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442820" y="6947383"/>
            <a:ext cx="3515411" cy="400507"/>
            <a:chOff x="0" y="0"/>
            <a:chExt cx="4687214" cy="5340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87214" cy="534010"/>
            </a:xfrm>
            <a:custGeom>
              <a:avLst/>
              <a:gdLst/>
              <a:ahLst/>
              <a:cxnLst/>
              <a:rect r="r" b="b" t="t" l="l"/>
              <a:pathLst>
                <a:path h="534010" w="4687214">
                  <a:moveTo>
                    <a:pt x="0" y="0"/>
                  </a:moveTo>
                  <a:lnTo>
                    <a:pt x="4687214" y="0"/>
                  </a:lnTo>
                  <a:lnTo>
                    <a:pt x="4687214" y="534010"/>
                  </a:lnTo>
                  <a:lnTo>
                    <a:pt x="0" y="5340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1027" r="0" b="-1210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687214" cy="56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E55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References &amp; Citations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42820" y="7380656"/>
            <a:ext cx="4151833" cy="286664"/>
            <a:chOff x="0" y="0"/>
            <a:chExt cx="5535778" cy="3822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35778" cy="382220"/>
            </a:xfrm>
            <a:custGeom>
              <a:avLst/>
              <a:gdLst/>
              <a:ahLst/>
              <a:cxnLst/>
              <a:rect r="r" b="b" t="t" l="l"/>
              <a:pathLst>
                <a:path h="382220" w="5535778">
                  <a:moveTo>
                    <a:pt x="0" y="0"/>
                  </a:moveTo>
                  <a:lnTo>
                    <a:pt x="5535778" y="0"/>
                  </a:lnTo>
                  <a:lnTo>
                    <a:pt x="5535778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2206" r="0" b="-2322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535778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1D5DB"/>
                  </a:solidFill>
                  <a:latin typeface="Poppins"/>
                  <a:ea typeface="Poppins"/>
                  <a:cs typeface="Poppins"/>
                  <a:sym typeface="Poppins"/>
                </a:rPr>
                <a:t>List key papers, articles, or data sources.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176577" y="7724470"/>
            <a:ext cx="14765960" cy="2134057"/>
            <a:chOff x="0" y="0"/>
            <a:chExt cx="19687946" cy="284541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687947" cy="2845435"/>
            </a:xfrm>
            <a:custGeom>
              <a:avLst/>
              <a:gdLst/>
              <a:ahLst/>
              <a:cxnLst/>
              <a:rect r="r" b="b" t="t" l="l"/>
              <a:pathLst>
                <a:path h="2845435" w="19687947">
                  <a:moveTo>
                    <a:pt x="0" y="99695"/>
                  </a:moveTo>
                  <a:cubicBezTo>
                    <a:pt x="0" y="44704"/>
                    <a:pt x="45774" y="0"/>
                    <a:pt x="102081" y="0"/>
                  </a:cubicBezTo>
                  <a:lnTo>
                    <a:pt x="19585867" y="0"/>
                  </a:lnTo>
                  <a:cubicBezTo>
                    <a:pt x="19642302" y="0"/>
                    <a:pt x="19687947" y="44704"/>
                    <a:pt x="19687947" y="99695"/>
                  </a:cubicBezTo>
                  <a:lnTo>
                    <a:pt x="19687947" y="2745740"/>
                  </a:lnTo>
                  <a:cubicBezTo>
                    <a:pt x="19687947" y="2800858"/>
                    <a:pt x="19642173" y="2845435"/>
                    <a:pt x="19585867" y="2845435"/>
                  </a:cubicBezTo>
                  <a:lnTo>
                    <a:pt x="102081" y="2845435"/>
                  </a:lnTo>
                  <a:cubicBezTo>
                    <a:pt x="45644" y="2845435"/>
                    <a:pt x="0" y="2800731"/>
                    <a:pt x="0" y="2745740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326747" y="7909636"/>
            <a:ext cx="13844930" cy="2041093"/>
            <a:chOff x="0" y="0"/>
            <a:chExt cx="18459907" cy="272145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459904" cy="2721458"/>
            </a:xfrm>
            <a:custGeom>
              <a:avLst/>
              <a:gdLst/>
              <a:ahLst/>
              <a:cxnLst/>
              <a:rect r="r" b="b" t="t" l="l"/>
              <a:pathLst>
                <a:path h="2721458" w="18459904">
                  <a:moveTo>
                    <a:pt x="0" y="0"/>
                  </a:moveTo>
                  <a:lnTo>
                    <a:pt x="18459904" y="0"/>
                  </a:lnTo>
                  <a:lnTo>
                    <a:pt x="18459904" y="2721458"/>
                  </a:lnTo>
                  <a:lnTo>
                    <a:pt x="0" y="27214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703" r="65117" b="4549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8459907" cy="2740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Ref 1: Lewis, J. P. – "Fast Normalized Cross-Correlation," Vision Interface, Proc. Canadian Image Processing and Pattern Recognition Society. 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Ref 2: Postek, M. T. &amp; Vladár, A. E. – "Critical Dimension SEM Metrology and Modeling in Semiconductor Manufacturing," SPIE Advanced Lithography.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• Ref 3: Applied Materials Metrology Benchmark – "Sub-Pixel Pattern Localization and Stage Drift Compensation under Low-Dose SEM," Hackathon Problem Track.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685593" y="8433968"/>
            <a:ext cx="4887011" cy="440893"/>
            <a:chOff x="0" y="0"/>
            <a:chExt cx="6516014" cy="58785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16014" cy="587858"/>
            </a:xfrm>
            <a:custGeom>
              <a:avLst/>
              <a:gdLst/>
              <a:ahLst/>
              <a:cxnLst/>
              <a:rect r="r" b="b" t="t" l="l"/>
              <a:pathLst>
                <a:path h="587858" w="6516014">
                  <a:moveTo>
                    <a:pt x="0" y="0"/>
                  </a:moveTo>
                  <a:lnTo>
                    <a:pt x="6516014" y="0"/>
                  </a:lnTo>
                  <a:lnTo>
                    <a:pt x="6516014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7091" r="0" b="-15486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516014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656789" y="9086850"/>
            <a:ext cx="4887011" cy="440893"/>
            <a:chOff x="0" y="0"/>
            <a:chExt cx="6516014" cy="58785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16014" cy="587858"/>
            </a:xfrm>
            <a:custGeom>
              <a:avLst/>
              <a:gdLst/>
              <a:ahLst/>
              <a:cxnLst/>
              <a:rect r="r" b="b" t="t" l="l"/>
              <a:pathLst>
                <a:path h="587858" w="6516014">
                  <a:moveTo>
                    <a:pt x="0" y="0"/>
                  </a:moveTo>
                  <a:lnTo>
                    <a:pt x="6516014" y="0"/>
                  </a:lnTo>
                  <a:lnTo>
                    <a:pt x="6516014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7091" r="0" b="-1548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6516014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57250" y="389572"/>
            <a:ext cx="16573043" cy="1286561"/>
            <a:chOff x="0" y="0"/>
            <a:chExt cx="22097390" cy="171541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2271151" y="585026"/>
            <a:ext cx="13745232" cy="879653"/>
            <a:chOff x="0" y="0"/>
            <a:chExt cx="18326976" cy="11728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DAHSkTymVxY</dc:identifier>
  <dcterms:modified xsi:type="dcterms:W3CDTF">2011-08-01T06:04:30Z</dcterms:modified>
  <cp:revision>1</cp:revision>
  <dc:title>Our approach resizes the reference template down to magnification and sweeps through rotation angles ( ) to correct geometric distortions. It computes normalized cross-correlation across the search image to identify all potential target match candidates</dc:title>
</cp:coreProperties>
</file>